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2"/>
  </p:notesMasterIdLst>
  <p:sldIdLst>
    <p:sldId id="256" r:id="rId2"/>
    <p:sldId id="343" r:id="rId3"/>
    <p:sldId id="351" r:id="rId4"/>
    <p:sldId id="344" r:id="rId5"/>
    <p:sldId id="349" r:id="rId6"/>
    <p:sldId id="358" r:id="rId7"/>
    <p:sldId id="296" r:id="rId8"/>
    <p:sldId id="359" r:id="rId9"/>
    <p:sldId id="361" r:id="rId10"/>
    <p:sldId id="362" r:id="rId11"/>
    <p:sldId id="363" r:id="rId12"/>
    <p:sldId id="368" r:id="rId13"/>
    <p:sldId id="364" r:id="rId14"/>
    <p:sldId id="365" r:id="rId15"/>
    <p:sldId id="367" r:id="rId16"/>
    <p:sldId id="387" r:id="rId17"/>
    <p:sldId id="388" r:id="rId18"/>
    <p:sldId id="390" r:id="rId19"/>
    <p:sldId id="391" r:id="rId20"/>
    <p:sldId id="392" r:id="rId21"/>
    <p:sldId id="393" r:id="rId22"/>
    <p:sldId id="394" r:id="rId23"/>
    <p:sldId id="389" r:id="rId24"/>
    <p:sldId id="396" r:id="rId25"/>
    <p:sldId id="397" r:id="rId26"/>
    <p:sldId id="399" r:id="rId27"/>
    <p:sldId id="400" r:id="rId28"/>
    <p:sldId id="401" r:id="rId29"/>
    <p:sldId id="402" r:id="rId30"/>
    <p:sldId id="403" r:id="rId3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14"/>
    <p:restoredTop sz="93632"/>
  </p:normalViewPr>
  <p:slideViewPr>
    <p:cSldViewPr snapToGrid="0">
      <p:cViewPr varScale="1">
        <p:scale>
          <a:sx n="88" d="100"/>
          <a:sy n="88" d="100"/>
        </p:scale>
        <p:origin x="1168" y="1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903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62B24-75DF-C568-A60F-4176942A1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AF4CF-4CA1-FD32-F34A-39EB9ADE4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BE4DC-AEA7-AD11-0E06-2214AC790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D6BFB-A1AD-6C4B-A676-813539D0CBAF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BB95C-4456-0F77-D265-FAB2C21C5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EF14B-EDAE-F5B3-5C6F-2CBA16A76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8613C-0343-8844-A2C6-DE67CA8E1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829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27.png"/><Relationship Id="rId7" Type="http://schemas.openxmlformats.org/officeDocument/2006/relationships/image" Target="../media/image10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106.png"/><Relationship Id="rId4" Type="http://schemas.openxmlformats.org/officeDocument/2006/relationships/image" Target="../media/image28.png"/><Relationship Id="rId9" Type="http://schemas.openxmlformats.org/officeDocument/2006/relationships/image" Target="../media/image10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mpaluszny/Downloads/visor_3d_humero_musculos(4).html" TargetMode="Externa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665246" cy="119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Proyecto – Gustavo A. Pérez 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6901962" y="3873101"/>
            <a:ext cx="1930338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Julio 2026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8A54A1-12EF-C493-FF98-EBE8DD36F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7666" y="1957044"/>
            <a:ext cx="1376144" cy="3067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0AD89E-CE57-AE52-17E3-57CCB64CC4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67" y="2417388"/>
            <a:ext cx="3519134" cy="15822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C57BB-AACB-63F5-3258-CB4006F31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7756059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P</a:t>
            </a:r>
            <a:r>
              <a:rPr lang="en-US" baseline="30000" dirty="0"/>
              <a:t>3</a:t>
            </a:r>
            <a:r>
              <a:rPr lang="en-US" dirty="0"/>
              <a:t>, </a:t>
            </a:r>
            <a:r>
              <a:rPr lang="en-US" dirty="0" err="1"/>
              <a:t>el</a:t>
            </a:r>
            <a:r>
              <a:rPr lang="en-US" dirty="0"/>
              <a:t> plano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infinito</a:t>
            </a:r>
            <a:r>
              <a:rPr lang="en-US" dirty="0"/>
              <a:t>, </a:t>
            </a:r>
            <a:r>
              <a:rPr lang="en-US" dirty="0" err="1"/>
              <a:t>cuádricas</a:t>
            </a:r>
            <a:r>
              <a:rPr lang="en-US" dirty="0"/>
              <a:t> y </a:t>
            </a:r>
            <a:r>
              <a:rPr lang="en-US" dirty="0" err="1"/>
              <a:t>cónicas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E1D632-BF28-3DCF-7125-ED02BBE67807}"/>
              </a:ext>
            </a:extLst>
          </p:cNvPr>
          <p:cNvSpPr txBox="1"/>
          <p:nvPr/>
        </p:nvSpPr>
        <p:spPr>
          <a:xfrm>
            <a:off x="677636" y="1169052"/>
            <a:ext cx="804182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latin typeface="-webkit-standard"/>
              </a:rPr>
              <a:t>La </a:t>
            </a:r>
            <a:r>
              <a:rPr lang="en-US" altLang="en-US" dirty="0" err="1">
                <a:latin typeface="-webkit-standard"/>
              </a:rPr>
              <a:t>esfera</a:t>
            </a:r>
            <a:r>
              <a:rPr lang="en-US" altLang="en-US" dirty="0">
                <a:latin typeface="-webkit-standard"/>
              </a:rPr>
              <a:t> </a:t>
            </a:r>
            <a:r>
              <a:rPr lang="en-US" altLang="en-US" dirty="0" err="1">
                <a:latin typeface="-webkit-standard"/>
              </a:rPr>
              <a:t>unitaria</a:t>
            </a:r>
            <a:r>
              <a:rPr lang="en-US" altLang="en-US" dirty="0">
                <a:latin typeface="-webkit-standard"/>
              </a:rPr>
              <a:t> de R</a:t>
            </a:r>
            <a:r>
              <a:rPr lang="en-US" altLang="en-US" baseline="30000" dirty="0">
                <a:latin typeface="-webkit-standard"/>
              </a:rPr>
              <a:t>3</a:t>
            </a:r>
            <a:r>
              <a:rPr lang="en-US" altLang="en-US" dirty="0">
                <a:latin typeface="-webkit-standard"/>
              </a:rPr>
              <a:t> se </a:t>
            </a:r>
            <a:r>
              <a:rPr lang="en-US" altLang="en-US" dirty="0" err="1">
                <a:latin typeface="-webkit-standard"/>
              </a:rPr>
              <a:t>expresa</a:t>
            </a:r>
            <a:r>
              <a:rPr lang="en-US" altLang="en-US" dirty="0">
                <a:latin typeface="-webkit-standard"/>
              </a:rPr>
              <a:t> </a:t>
            </a:r>
            <a:r>
              <a:rPr lang="en-US" altLang="en-US" dirty="0" err="1">
                <a:latin typeface="-webkit-standard"/>
              </a:rPr>
              <a:t>como</a:t>
            </a:r>
            <a:r>
              <a:rPr lang="en-US" altLang="en-US" dirty="0">
                <a:latin typeface="-webkit-standard"/>
              </a:rPr>
              <a:t> </a:t>
            </a:r>
            <a:r>
              <a:rPr lang="en-US" altLang="en-US" dirty="0" err="1">
                <a:latin typeface="-webkit-standard"/>
              </a:rPr>
              <a:t>una</a:t>
            </a:r>
            <a:r>
              <a:rPr lang="en-US" altLang="en-US" dirty="0">
                <a:latin typeface="-webkit-standard"/>
              </a:rPr>
              <a:t> </a:t>
            </a:r>
            <a:r>
              <a:rPr lang="en-US" altLang="en-US" dirty="0" err="1">
                <a:latin typeface="-webkit-standard"/>
              </a:rPr>
              <a:t>cuádrica</a:t>
            </a:r>
            <a:r>
              <a:rPr lang="en-US" altLang="en-US" dirty="0">
                <a:latin typeface="-webkit-standard"/>
              </a:rPr>
              <a:t> </a:t>
            </a:r>
            <a:r>
              <a:rPr lang="en-US" altLang="en-US" dirty="0" err="1">
                <a:latin typeface="-webkit-standard"/>
              </a:rPr>
              <a:t>en</a:t>
            </a:r>
            <a:r>
              <a:rPr lang="en-US" altLang="en-US" dirty="0">
                <a:latin typeface="-webkit-standard"/>
              </a:rPr>
              <a:t> P</a:t>
            </a:r>
            <a:r>
              <a:rPr lang="en-US" altLang="en-US" baseline="30000" dirty="0">
                <a:latin typeface="-webkit-standard"/>
              </a:rPr>
              <a:t>3</a:t>
            </a:r>
            <a:r>
              <a:rPr lang="en-US" altLang="en-US" dirty="0">
                <a:latin typeface="-webkit-standard"/>
              </a:rPr>
              <a:t>: </a:t>
            </a:r>
            <a:r>
              <a:rPr lang="en-US" altLang="en-US" dirty="0"/>
              <a:t>x</a:t>
            </a:r>
            <a:r>
              <a:rPr lang="en-US" altLang="en-US" baseline="30000" dirty="0"/>
              <a:t>2</a:t>
            </a:r>
            <a:r>
              <a:rPr lang="en-US" altLang="en-US" dirty="0"/>
              <a:t>+y</a:t>
            </a:r>
            <a:r>
              <a:rPr lang="en-US" altLang="en-US" baseline="30000" dirty="0"/>
              <a:t>2</a:t>
            </a:r>
            <a:r>
              <a:rPr lang="en-US" altLang="en-US" dirty="0"/>
              <a:t>+z</a:t>
            </a:r>
            <a:r>
              <a:rPr lang="en-US" altLang="en-US" baseline="30000" dirty="0"/>
              <a:t>2</a:t>
            </a:r>
            <a:r>
              <a:rPr lang="en-US" altLang="en-US" dirty="0"/>
              <a:t>−w</a:t>
            </a:r>
            <a:r>
              <a:rPr lang="en-US" altLang="en-US" baseline="30000" dirty="0"/>
              <a:t>2 </a:t>
            </a:r>
            <a:r>
              <a:rPr lang="en-US" altLang="en-US" dirty="0">
                <a:latin typeface="Arial" panose="020B0604020202020204" pitchFamily="34" charset="0"/>
              </a:rPr>
              <a:t>= 0</a:t>
            </a:r>
            <a:r>
              <a:rPr lang="en-US" altLang="en-US" dirty="0">
                <a:latin typeface="-webkit-standard"/>
              </a:rPr>
              <a:t> </a:t>
            </a:r>
          </a:p>
          <a:p>
            <a:endParaRPr lang="en-US" altLang="en-US" dirty="0">
              <a:latin typeface="-webkit-standard"/>
            </a:endParaRPr>
          </a:p>
          <a:p>
            <a:r>
              <a:rPr lang="en-US" altLang="en-US" dirty="0">
                <a:latin typeface="-webkit-standard"/>
              </a:rPr>
              <a:t>Una </a:t>
            </a:r>
            <a:r>
              <a:rPr lang="en-US" altLang="en-US" dirty="0" err="1">
                <a:latin typeface="-webkit-standard"/>
              </a:rPr>
              <a:t>cuádrica</a:t>
            </a:r>
            <a:r>
              <a:rPr lang="en-US" altLang="en-US" dirty="0">
                <a:latin typeface="-webkit-standard"/>
              </a:rPr>
              <a:t> </a:t>
            </a:r>
            <a:r>
              <a:rPr lang="en-US" altLang="en-US" dirty="0" err="1">
                <a:latin typeface="-webkit-standard"/>
              </a:rPr>
              <a:t>en</a:t>
            </a:r>
            <a:r>
              <a:rPr lang="en-US" altLang="en-US" dirty="0">
                <a:latin typeface="-webkit-standard"/>
              </a:rPr>
              <a:t> P</a:t>
            </a:r>
            <a:r>
              <a:rPr lang="en-US" altLang="en-US" baseline="30000" dirty="0">
                <a:latin typeface="-webkit-standard"/>
              </a:rPr>
              <a:t>3</a:t>
            </a:r>
            <a:r>
              <a:rPr lang="en-US" altLang="en-US" dirty="0">
                <a:latin typeface="-webkit-standard"/>
              </a:rPr>
              <a:t> </a:t>
            </a:r>
            <a:r>
              <a:rPr lang="en-US" altLang="en-US" dirty="0" err="1">
                <a:latin typeface="-webkit-standard"/>
              </a:rPr>
              <a:t>depende</a:t>
            </a:r>
            <a:r>
              <a:rPr lang="en-US" altLang="en-US" dirty="0">
                <a:latin typeface="-webkit-standard"/>
              </a:rPr>
              <a:t> de </a:t>
            </a:r>
            <a:r>
              <a:rPr lang="en-US" altLang="en-US" dirty="0" err="1">
                <a:latin typeface="-webkit-standard"/>
              </a:rPr>
              <a:t>diez</a:t>
            </a:r>
            <a:r>
              <a:rPr lang="en-US" altLang="en-US" dirty="0">
                <a:latin typeface="-webkit-standard"/>
              </a:rPr>
              <a:t> </a:t>
            </a:r>
            <a:r>
              <a:rPr lang="en-US" altLang="en-US" dirty="0" err="1">
                <a:latin typeface="-webkit-standard"/>
              </a:rPr>
              <a:t>parámetros</a:t>
            </a:r>
            <a:r>
              <a:rPr lang="en-US" altLang="en-US" dirty="0">
                <a:latin typeface="-webkit-standard"/>
              </a:rPr>
              <a:t>: a, b, c, d, e, f, g, h, k, m</a:t>
            </a:r>
          </a:p>
          <a:p>
            <a:r>
              <a:rPr lang="en-US" altLang="en-US" dirty="0">
                <a:latin typeface="-webkit-standard"/>
              </a:rPr>
              <a:t> </a:t>
            </a:r>
          </a:p>
          <a:p>
            <a:pPr algn="ctr"/>
            <a:r>
              <a:rPr lang="en-US" altLang="en-US" dirty="0">
                <a:latin typeface="-webkit-standard"/>
              </a:rPr>
              <a:t>ax</a:t>
            </a:r>
            <a:r>
              <a:rPr lang="en-US" altLang="en-US" baseline="30000" dirty="0">
                <a:latin typeface="-webkit-standard"/>
              </a:rPr>
              <a:t>2 </a:t>
            </a:r>
            <a:r>
              <a:rPr lang="en-US" altLang="en-US" dirty="0">
                <a:latin typeface="-webkit-standard"/>
              </a:rPr>
              <a:t>+ by</a:t>
            </a:r>
            <a:r>
              <a:rPr lang="en-US" altLang="en-US" baseline="30000" dirty="0">
                <a:latin typeface="-webkit-standard"/>
              </a:rPr>
              <a:t>2 </a:t>
            </a:r>
            <a:r>
              <a:rPr lang="en-US" altLang="en-US" dirty="0">
                <a:latin typeface="-webkit-standard"/>
              </a:rPr>
              <a:t>+ cz</a:t>
            </a:r>
            <a:r>
              <a:rPr lang="en-US" altLang="en-US" baseline="30000" dirty="0">
                <a:latin typeface="-webkit-standard"/>
              </a:rPr>
              <a:t>2 </a:t>
            </a:r>
            <a:r>
              <a:rPr lang="en-US" altLang="en-US" dirty="0">
                <a:latin typeface="-webkit-standard"/>
              </a:rPr>
              <a:t>+ dw</a:t>
            </a:r>
            <a:r>
              <a:rPr lang="en-US" altLang="en-US" baseline="30000" dirty="0">
                <a:latin typeface="-webkit-standard"/>
              </a:rPr>
              <a:t>2 </a:t>
            </a:r>
            <a:r>
              <a:rPr lang="en-US" altLang="en-US" dirty="0">
                <a:latin typeface="-webkit-standard"/>
              </a:rPr>
              <a:t>+ </a:t>
            </a:r>
            <a:r>
              <a:rPr lang="en-US" altLang="en-US" dirty="0" err="1">
                <a:latin typeface="-webkit-standard"/>
              </a:rPr>
              <a:t>exy</a:t>
            </a:r>
            <a:r>
              <a:rPr lang="en-US" altLang="en-US" dirty="0">
                <a:latin typeface="-webkit-standard"/>
              </a:rPr>
              <a:t> + </a:t>
            </a:r>
            <a:r>
              <a:rPr lang="en-US" altLang="en-US" dirty="0" err="1">
                <a:latin typeface="-webkit-standard"/>
              </a:rPr>
              <a:t>fyz</a:t>
            </a:r>
            <a:r>
              <a:rPr lang="en-US" altLang="en-US" dirty="0">
                <a:latin typeface="-webkit-standard"/>
              </a:rPr>
              <a:t> + </a:t>
            </a:r>
            <a:r>
              <a:rPr lang="en-US" altLang="en-US" dirty="0" err="1">
                <a:latin typeface="-webkit-standard"/>
              </a:rPr>
              <a:t>gzx</a:t>
            </a:r>
            <a:r>
              <a:rPr lang="en-US" altLang="en-US" dirty="0">
                <a:latin typeface="-webkit-standard"/>
              </a:rPr>
              <a:t> + </a:t>
            </a:r>
            <a:r>
              <a:rPr lang="en-US" altLang="en-US" dirty="0" err="1">
                <a:latin typeface="-webkit-standard"/>
              </a:rPr>
              <a:t>hxw</a:t>
            </a:r>
            <a:r>
              <a:rPr lang="en-US" altLang="en-US" dirty="0">
                <a:latin typeface="-webkit-standard"/>
              </a:rPr>
              <a:t> + </a:t>
            </a:r>
            <a:r>
              <a:rPr lang="en-US" altLang="en-US" dirty="0" err="1">
                <a:latin typeface="-webkit-standard"/>
              </a:rPr>
              <a:t>kyw</a:t>
            </a:r>
            <a:r>
              <a:rPr lang="en-US" altLang="en-US" dirty="0">
                <a:latin typeface="-webkit-standard"/>
              </a:rPr>
              <a:t> + </a:t>
            </a:r>
            <a:r>
              <a:rPr lang="en-US" altLang="en-US" dirty="0" err="1">
                <a:latin typeface="-webkit-standard"/>
              </a:rPr>
              <a:t>mzw</a:t>
            </a:r>
            <a:r>
              <a:rPr lang="en-US" altLang="en-US" dirty="0">
                <a:latin typeface="-webkit-standard"/>
              </a:rPr>
              <a:t> = 0</a:t>
            </a:r>
          </a:p>
          <a:p>
            <a:endParaRPr lang="en-US" altLang="en-US" dirty="0">
              <a:latin typeface="-webkit-standard"/>
            </a:endParaRPr>
          </a:p>
          <a:p>
            <a:r>
              <a:rPr lang="en-US" altLang="en-US" dirty="0">
                <a:latin typeface="-webkit-standard"/>
              </a:rPr>
              <a:t>Si </a:t>
            </a:r>
            <a:r>
              <a:rPr lang="en-US" altLang="en-US" dirty="0" err="1">
                <a:latin typeface="-webkit-standard"/>
              </a:rPr>
              <a:t>hace</a:t>
            </a:r>
            <a:r>
              <a:rPr lang="en-US" altLang="en-US" dirty="0">
                <a:latin typeface="-webkit-standard"/>
              </a:rPr>
              <a:t> w = 1, </a:t>
            </a:r>
            <a:r>
              <a:rPr lang="en-US" altLang="en-US" dirty="0" err="1">
                <a:latin typeface="-webkit-standard"/>
              </a:rPr>
              <a:t>obtiene</a:t>
            </a:r>
            <a:r>
              <a:rPr lang="en-US" altLang="en-US" dirty="0">
                <a:latin typeface="-webkit-standard"/>
              </a:rPr>
              <a:t> </a:t>
            </a:r>
            <a:r>
              <a:rPr lang="en-US" altLang="en-US" dirty="0" err="1">
                <a:latin typeface="-webkit-standard"/>
              </a:rPr>
              <a:t>los</a:t>
            </a:r>
            <a:r>
              <a:rPr lang="en-US" altLang="en-US" dirty="0">
                <a:latin typeface="-webkit-standard"/>
              </a:rPr>
              <a:t> puntos de la </a:t>
            </a:r>
            <a:r>
              <a:rPr lang="en-US" altLang="en-US" dirty="0" err="1">
                <a:latin typeface="-webkit-standard"/>
              </a:rPr>
              <a:t>cuádrica</a:t>
            </a:r>
            <a:r>
              <a:rPr lang="en-US" altLang="en-US" dirty="0">
                <a:latin typeface="-webkit-standard"/>
              </a:rPr>
              <a:t> </a:t>
            </a:r>
            <a:r>
              <a:rPr lang="en-US" altLang="en-US" dirty="0" err="1">
                <a:latin typeface="-webkit-standard"/>
              </a:rPr>
              <a:t>en</a:t>
            </a:r>
            <a:r>
              <a:rPr lang="en-US" altLang="en-US" dirty="0">
                <a:latin typeface="-webkit-standard"/>
              </a:rPr>
              <a:t> P</a:t>
            </a:r>
            <a:r>
              <a:rPr lang="en-US" altLang="en-US" baseline="30000" dirty="0">
                <a:latin typeface="-webkit-standard"/>
              </a:rPr>
              <a:t>3</a:t>
            </a:r>
            <a:r>
              <a:rPr lang="en-US" altLang="en-US" dirty="0">
                <a:latin typeface="-webkit-standard"/>
              </a:rPr>
              <a:t> </a:t>
            </a:r>
            <a:r>
              <a:rPr lang="en-US" altLang="en-US" dirty="0" err="1">
                <a:latin typeface="-webkit-standard"/>
              </a:rPr>
              <a:t>que</a:t>
            </a:r>
            <a:r>
              <a:rPr lang="en-US" altLang="en-US" dirty="0">
                <a:latin typeface="-webkit-standard"/>
              </a:rPr>
              <a:t> </a:t>
            </a:r>
            <a:r>
              <a:rPr lang="en-US" altLang="en-US" dirty="0" err="1">
                <a:latin typeface="-webkit-standard"/>
              </a:rPr>
              <a:t>yacen</a:t>
            </a:r>
            <a:r>
              <a:rPr lang="en-US" altLang="en-US" dirty="0">
                <a:latin typeface="-webkit-standard"/>
              </a:rPr>
              <a:t> </a:t>
            </a:r>
            <a:r>
              <a:rPr lang="en-US" altLang="en-US" dirty="0" err="1">
                <a:latin typeface="-webkit-standard"/>
              </a:rPr>
              <a:t>en</a:t>
            </a:r>
            <a:r>
              <a:rPr lang="en-US" altLang="en-US" dirty="0">
                <a:latin typeface="-webkit-standard"/>
              </a:rPr>
              <a:t> R</a:t>
            </a:r>
            <a:r>
              <a:rPr lang="en-US" altLang="en-US" baseline="30000" dirty="0">
                <a:latin typeface="-webkit-standard"/>
              </a:rPr>
              <a:t>3</a:t>
            </a:r>
            <a:r>
              <a:rPr lang="en-US" altLang="en-US" dirty="0">
                <a:latin typeface="-webkit-standard"/>
              </a:rPr>
              <a:t>.</a:t>
            </a:r>
          </a:p>
          <a:p>
            <a:endParaRPr lang="en-US" altLang="en-US" dirty="0">
              <a:latin typeface="-webkit-standard"/>
            </a:endParaRPr>
          </a:p>
          <a:p>
            <a:r>
              <a:rPr lang="en-US" altLang="en-US" dirty="0">
                <a:latin typeface="-webkit-standard"/>
              </a:rPr>
              <a:t>La </a:t>
            </a:r>
            <a:r>
              <a:rPr lang="en-US" altLang="en-US" dirty="0" err="1">
                <a:latin typeface="-webkit-standard"/>
              </a:rPr>
              <a:t>geometría</a:t>
            </a:r>
            <a:r>
              <a:rPr lang="en-US" altLang="en-US" dirty="0">
                <a:latin typeface="-webkit-standard"/>
              </a:rPr>
              <a:t> de P</a:t>
            </a:r>
            <a:r>
              <a:rPr lang="en-US" altLang="en-US" baseline="30000" dirty="0">
                <a:latin typeface="-webkit-standard"/>
              </a:rPr>
              <a:t>3</a:t>
            </a:r>
            <a:r>
              <a:rPr lang="en-US" altLang="en-US" dirty="0">
                <a:latin typeface="-webkit-standard"/>
              </a:rPr>
              <a:t> </a:t>
            </a:r>
            <a:r>
              <a:rPr lang="en-US" altLang="en-US" dirty="0" err="1">
                <a:latin typeface="-webkit-standard"/>
              </a:rPr>
              <a:t>está</a:t>
            </a:r>
            <a:r>
              <a:rPr lang="en-US" altLang="en-US" dirty="0">
                <a:latin typeface="-webkit-standard"/>
              </a:rPr>
              <a:t> dada </a:t>
            </a:r>
            <a:r>
              <a:rPr lang="en-US" altLang="en-US" dirty="0" err="1">
                <a:latin typeface="-webkit-standard"/>
              </a:rPr>
              <a:t>por</a:t>
            </a:r>
            <a:r>
              <a:rPr lang="en-US" altLang="en-US" dirty="0">
                <a:latin typeface="-webkit-standard"/>
              </a:rPr>
              <a:t> el </a:t>
            </a:r>
            <a:r>
              <a:rPr lang="en-US" altLang="en-US" dirty="0" err="1">
                <a:latin typeface="-webkit-standard"/>
              </a:rPr>
              <a:t>grupo</a:t>
            </a:r>
            <a:r>
              <a:rPr lang="en-US" altLang="en-US" dirty="0">
                <a:latin typeface="-webkit-standard"/>
              </a:rPr>
              <a:t> </a:t>
            </a:r>
            <a:r>
              <a:rPr lang="en-US" altLang="en-US" dirty="0" err="1">
                <a:latin typeface="-webkit-standard"/>
              </a:rPr>
              <a:t>proyectivo</a:t>
            </a:r>
            <a:r>
              <a:rPr lang="en-US" altLang="en-US" dirty="0">
                <a:latin typeface="-webkit-standard"/>
              </a:rPr>
              <a:t> GL(R,4). </a:t>
            </a:r>
          </a:p>
          <a:p>
            <a:r>
              <a:rPr lang="en-US" altLang="en-US" dirty="0">
                <a:latin typeface="-webkit-standard"/>
              </a:rPr>
              <a:t>Las </a:t>
            </a:r>
            <a:r>
              <a:rPr lang="en-US" altLang="en-US" dirty="0" err="1">
                <a:latin typeface="-webkit-standard"/>
              </a:rPr>
              <a:t>nociones</a:t>
            </a:r>
            <a:r>
              <a:rPr lang="en-US" altLang="en-US" dirty="0">
                <a:latin typeface="-webkit-standard"/>
              </a:rPr>
              <a:t> de plano </a:t>
            </a:r>
            <a:r>
              <a:rPr lang="en-US" altLang="en-US" dirty="0" err="1">
                <a:latin typeface="-webkit-standard"/>
              </a:rPr>
              <a:t>proyectivo</a:t>
            </a:r>
            <a:r>
              <a:rPr lang="en-US" altLang="en-US" dirty="0">
                <a:latin typeface="-webkit-standard"/>
              </a:rPr>
              <a:t> y recta </a:t>
            </a:r>
            <a:r>
              <a:rPr lang="en-US" altLang="en-US" dirty="0" err="1">
                <a:latin typeface="-webkit-standard"/>
              </a:rPr>
              <a:t>proyectiva</a:t>
            </a:r>
            <a:r>
              <a:rPr lang="en-US" altLang="en-US" dirty="0">
                <a:latin typeface="-webkit-standard"/>
              </a:rPr>
              <a:t> </a:t>
            </a:r>
            <a:r>
              <a:rPr lang="en-US" altLang="en-US" dirty="0" err="1">
                <a:latin typeface="-webkit-standard"/>
              </a:rPr>
              <a:t>en</a:t>
            </a:r>
            <a:r>
              <a:rPr lang="en-US" altLang="en-US" dirty="0">
                <a:latin typeface="-webkit-standard"/>
              </a:rPr>
              <a:t> P</a:t>
            </a:r>
            <a:r>
              <a:rPr lang="en-US" altLang="en-US" baseline="30000" dirty="0">
                <a:latin typeface="-webkit-standard"/>
              </a:rPr>
              <a:t>3</a:t>
            </a:r>
            <a:r>
              <a:rPr lang="en-US" altLang="en-US" dirty="0">
                <a:latin typeface="-webkit-standard"/>
              </a:rPr>
              <a:t> son </a:t>
            </a:r>
            <a:r>
              <a:rPr lang="en-US" altLang="en-US" dirty="0" err="1">
                <a:latin typeface="-webkit-standard"/>
              </a:rPr>
              <a:t>nociones</a:t>
            </a:r>
            <a:r>
              <a:rPr lang="en-US" altLang="en-US" dirty="0">
                <a:latin typeface="-webkit-standard"/>
              </a:rPr>
              <a:t> </a:t>
            </a:r>
            <a:r>
              <a:rPr lang="en-US" altLang="en-US" dirty="0" err="1">
                <a:latin typeface="-webkit-standard"/>
              </a:rPr>
              <a:t>válidas</a:t>
            </a:r>
            <a:r>
              <a:rPr lang="en-US" altLang="en-US" dirty="0">
                <a:latin typeface="-webkit-standard"/>
              </a:rPr>
              <a:t> </a:t>
            </a:r>
            <a:r>
              <a:rPr lang="en-US" altLang="en-US" dirty="0" err="1">
                <a:latin typeface="-webkit-standard"/>
              </a:rPr>
              <a:t>en</a:t>
            </a:r>
            <a:r>
              <a:rPr lang="en-US" altLang="en-US" dirty="0">
                <a:latin typeface="-webkit-standard"/>
              </a:rPr>
              <a:t> </a:t>
            </a:r>
            <a:r>
              <a:rPr lang="en-US" altLang="en-US" dirty="0" err="1">
                <a:latin typeface="-webkit-standard"/>
              </a:rPr>
              <a:t>esta</a:t>
            </a:r>
            <a:r>
              <a:rPr lang="en-US" altLang="en-US" dirty="0">
                <a:latin typeface="-webkit-standard"/>
              </a:rPr>
              <a:t> </a:t>
            </a:r>
            <a:r>
              <a:rPr lang="en-US" altLang="en-US" dirty="0" err="1">
                <a:latin typeface="-webkit-standard"/>
              </a:rPr>
              <a:t>geometría</a:t>
            </a:r>
            <a:endParaRPr lang="en-US" altLang="en-US" dirty="0">
              <a:latin typeface="-webkit-standard"/>
            </a:endParaRPr>
          </a:p>
          <a:p>
            <a:endParaRPr lang="en-US" altLang="en-US" dirty="0">
              <a:latin typeface="-webkit-standard"/>
            </a:endParaRPr>
          </a:p>
          <a:p>
            <a:r>
              <a:rPr lang="en-US" altLang="en-US" dirty="0">
                <a:latin typeface="-webkit-standard"/>
              </a:rPr>
              <a:t>El </a:t>
            </a:r>
            <a:r>
              <a:rPr lang="en-US" altLang="en-US" dirty="0" err="1">
                <a:latin typeface="-webkit-standard"/>
              </a:rPr>
              <a:t>grupo</a:t>
            </a:r>
            <a:r>
              <a:rPr lang="en-US" altLang="en-US" dirty="0">
                <a:latin typeface="-webkit-standard"/>
              </a:rPr>
              <a:t> GL(R,4) </a:t>
            </a:r>
            <a:r>
              <a:rPr lang="en-US" altLang="en-US" dirty="0" err="1">
                <a:latin typeface="-webkit-standard"/>
              </a:rPr>
              <a:t>tiene</a:t>
            </a:r>
            <a:r>
              <a:rPr lang="en-US" altLang="en-US" dirty="0">
                <a:latin typeface="-webkit-standard"/>
              </a:rPr>
              <a:t> un </a:t>
            </a:r>
            <a:r>
              <a:rPr lang="en-US" altLang="en-US" dirty="0" err="1">
                <a:latin typeface="-webkit-standard"/>
              </a:rPr>
              <a:t>subgrupo</a:t>
            </a:r>
            <a:r>
              <a:rPr lang="en-US" altLang="en-US" dirty="0">
                <a:latin typeface="-webkit-standard"/>
              </a:rPr>
              <a:t> </a:t>
            </a:r>
            <a:r>
              <a:rPr lang="en-US" altLang="en-US" dirty="0" err="1">
                <a:latin typeface="-webkit-standard"/>
              </a:rPr>
              <a:t>muy</a:t>
            </a:r>
            <a:r>
              <a:rPr lang="en-US" altLang="en-US" dirty="0">
                <a:latin typeface="-webkit-standard"/>
              </a:rPr>
              <a:t> </a:t>
            </a:r>
            <a:r>
              <a:rPr lang="en-US" altLang="en-US" dirty="0" err="1">
                <a:latin typeface="-webkit-standard"/>
              </a:rPr>
              <a:t>interesante</a:t>
            </a:r>
            <a:r>
              <a:rPr lang="en-US" altLang="en-US" dirty="0">
                <a:latin typeface="-webkit-standard"/>
              </a:rPr>
              <a:t>: O(3,1), son las matrices M </a:t>
            </a:r>
            <a:r>
              <a:rPr lang="en-US" altLang="en-US" dirty="0" err="1">
                <a:latin typeface="-webkit-standard"/>
              </a:rPr>
              <a:t>que</a:t>
            </a:r>
            <a:r>
              <a:rPr lang="en-US" altLang="en-US" dirty="0">
                <a:latin typeface="-webkit-standard"/>
              </a:rPr>
              <a:t> </a:t>
            </a:r>
            <a:r>
              <a:rPr lang="en-US" altLang="en-US" dirty="0" err="1">
                <a:latin typeface="-webkit-standard"/>
              </a:rPr>
              <a:t>satisfacen</a:t>
            </a:r>
            <a:endParaRPr lang="en-US" altLang="en-US" dirty="0">
              <a:latin typeface="-webkit-standard"/>
            </a:endParaRPr>
          </a:p>
          <a:p>
            <a:endParaRPr lang="en-US" altLang="en-US" dirty="0">
              <a:latin typeface="-webkit-standard"/>
            </a:endParaRPr>
          </a:p>
          <a:p>
            <a:pPr algn="ctr"/>
            <a:r>
              <a:rPr lang="en-US" altLang="en-US" baseline="30000" dirty="0" err="1"/>
              <a:t>t</a:t>
            </a:r>
            <a:r>
              <a:rPr lang="en-US" altLang="en-US" dirty="0" err="1"/>
              <a:t>MQM</a:t>
            </a:r>
            <a:r>
              <a:rPr lang="en-US" altLang="en-US" dirty="0"/>
              <a:t>=Q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lang="en-US" altLang="en-US" dirty="0" err="1">
                <a:latin typeface="Arial" panose="020B0604020202020204" pitchFamily="34" charset="0"/>
              </a:rPr>
              <a:t>donde</a:t>
            </a:r>
            <a:r>
              <a:rPr lang="en-US" altLang="en-US" dirty="0">
                <a:latin typeface="Arial" panose="020B0604020202020204" pitchFamily="34" charset="0"/>
              </a:rPr>
              <a:t> Q = </a:t>
            </a:r>
            <a:r>
              <a:rPr lang="en-US" altLang="en-US" dirty="0" err="1"/>
              <a:t>diag</a:t>
            </a:r>
            <a:r>
              <a:rPr lang="en-US" altLang="en-US" dirty="0"/>
              <a:t>(1,1,1,−1)</a:t>
            </a:r>
            <a:endParaRPr lang="en-US" altLang="en-US" dirty="0">
              <a:latin typeface="-webkit-standard"/>
            </a:endParaRPr>
          </a:p>
          <a:p>
            <a:endParaRPr lang="en-US" altLang="en-US" dirty="0">
              <a:latin typeface="-webkit-standard"/>
            </a:endParaRPr>
          </a:p>
          <a:p>
            <a:r>
              <a:rPr lang="en-US" dirty="0">
                <a:latin typeface="-webkit-standard"/>
              </a:rPr>
              <a:t>- las matrices de </a:t>
            </a:r>
            <a:r>
              <a:rPr lang="en-US" altLang="en-US" dirty="0">
                <a:latin typeface="-webkit-standard"/>
              </a:rPr>
              <a:t>O(3,1) </a:t>
            </a:r>
            <a:r>
              <a:rPr lang="en-US" altLang="en-US" dirty="0" err="1">
                <a:latin typeface="-webkit-standard"/>
              </a:rPr>
              <a:t>en</a:t>
            </a:r>
            <a:r>
              <a:rPr lang="en-US" altLang="en-US" dirty="0">
                <a:latin typeface="-webkit-standard"/>
              </a:rPr>
              <a:t> </a:t>
            </a:r>
            <a:r>
              <a:rPr lang="en-US" altLang="en-US" dirty="0" err="1">
                <a:latin typeface="-webkit-standard"/>
              </a:rPr>
              <a:t>que</a:t>
            </a:r>
            <a:r>
              <a:rPr lang="en-US" altLang="en-US" dirty="0">
                <a:latin typeface="-webkit-standard"/>
              </a:rPr>
              <a:t> </a:t>
            </a:r>
            <a:r>
              <a:rPr lang="en-US" altLang="en-US" dirty="0" err="1">
                <a:latin typeface="-webkit-standard"/>
              </a:rPr>
              <a:t>transforman</a:t>
            </a:r>
            <a:r>
              <a:rPr lang="en-US" altLang="en-US" dirty="0">
                <a:latin typeface="-webkit-standard"/>
              </a:rPr>
              <a:t> la </a:t>
            </a:r>
            <a:r>
              <a:rPr lang="en-US" altLang="en-US" dirty="0" err="1">
                <a:latin typeface="-webkit-standard"/>
              </a:rPr>
              <a:t>esfera</a:t>
            </a:r>
            <a:r>
              <a:rPr lang="en-US" altLang="en-US" dirty="0">
                <a:latin typeface="-webkit-standard"/>
              </a:rPr>
              <a:t> S</a:t>
            </a:r>
            <a:r>
              <a:rPr lang="en-US" altLang="en-US" baseline="30000" dirty="0">
                <a:latin typeface="-webkit-standard"/>
              </a:rPr>
              <a:t>2</a:t>
            </a:r>
            <a:r>
              <a:rPr lang="en-US" altLang="en-US" dirty="0">
                <a:latin typeface="-webkit-standard"/>
              </a:rPr>
              <a:t> de R</a:t>
            </a:r>
            <a:r>
              <a:rPr lang="en-US" altLang="en-US" baseline="30000" dirty="0">
                <a:latin typeface="-webkit-standard"/>
              </a:rPr>
              <a:t>3 </a:t>
            </a:r>
            <a:r>
              <a:rPr lang="en-US" altLang="en-US" dirty="0" err="1">
                <a:latin typeface="-webkit-standard"/>
              </a:rPr>
              <a:t>en</a:t>
            </a:r>
            <a:r>
              <a:rPr lang="en-US" altLang="en-US" baseline="30000" dirty="0">
                <a:latin typeface="-webkit-standard"/>
              </a:rPr>
              <a:t> </a:t>
            </a:r>
            <a:r>
              <a:rPr lang="en-US" altLang="en-US" dirty="0">
                <a:latin typeface="-webkit-standard"/>
              </a:rPr>
              <a:t>S</a:t>
            </a:r>
            <a:r>
              <a:rPr lang="en-US" altLang="en-US" baseline="30000" dirty="0">
                <a:latin typeface="-webkit-standard"/>
              </a:rPr>
              <a:t>2</a:t>
            </a:r>
            <a:r>
              <a:rPr lang="en-US" altLang="en-US" dirty="0">
                <a:latin typeface="-webkit-standard"/>
              </a:rPr>
              <a:t>. O </a:t>
            </a:r>
            <a:r>
              <a:rPr lang="en-US" altLang="en-US" dirty="0" err="1">
                <a:latin typeface="-webkit-standard"/>
              </a:rPr>
              <a:t>más</a:t>
            </a:r>
            <a:r>
              <a:rPr lang="en-US" altLang="en-US" dirty="0">
                <a:latin typeface="-webkit-standard"/>
              </a:rPr>
              <a:t> </a:t>
            </a:r>
            <a:r>
              <a:rPr lang="en-US" altLang="en-US" dirty="0" err="1">
                <a:latin typeface="-webkit-standard"/>
              </a:rPr>
              <a:t>precismente</a:t>
            </a:r>
            <a:r>
              <a:rPr lang="en-US" altLang="en-US" dirty="0">
                <a:latin typeface="-webkit-standard"/>
              </a:rPr>
              <a:t>: la </a:t>
            </a:r>
            <a:r>
              <a:rPr lang="en-US" altLang="en-US" dirty="0" err="1">
                <a:latin typeface="-webkit-standard"/>
              </a:rPr>
              <a:t>cuádrica</a:t>
            </a:r>
            <a:r>
              <a:rPr lang="en-US" altLang="en-US" dirty="0">
                <a:latin typeface="-webkit-standard"/>
              </a:rPr>
              <a:t> de P</a:t>
            </a:r>
            <a:r>
              <a:rPr lang="en-US" altLang="en-US" baseline="30000" dirty="0">
                <a:latin typeface="-webkit-standard"/>
              </a:rPr>
              <a:t>3</a:t>
            </a:r>
            <a:r>
              <a:rPr lang="en-US" altLang="en-US" dirty="0">
                <a:latin typeface="-webkit-standard"/>
              </a:rPr>
              <a:t>: </a:t>
            </a:r>
            <a:r>
              <a:rPr lang="en-US" altLang="en-US" dirty="0"/>
              <a:t>x</a:t>
            </a:r>
            <a:r>
              <a:rPr lang="en-US" altLang="en-US" baseline="30000" dirty="0"/>
              <a:t>2</a:t>
            </a:r>
            <a:r>
              <a:rPr lang="en-US" altLang="en-US" dirty="0"/>
              <a:t>+y</a:t>
            </a:r>
            <a:r>
              <a:rPr lang="en-US" altLang="en-US" baseline="30000" dirty="0"/>
              <a:t>2</a:t>
            </a:r>
            <a:r>
              <a:rPr lang="en-US" altLang="en-US" dirty="0"/>
              <a:t>+z</a:t>
            </a:r>
            <a:r>
              <a:rPr lang="en-US" altLang="en-US" baseline="30000" dirty="0"/>
              <a:t>2</a:t>
            </a:r>
            <a:r>
              <a:rPr lang="en-US" altLang="en-US" dirty="0"/>
              <a:t>−w</a:t>
            </a:r>
            <a:r>
              <a:rPr lang="en-US" altLang="en-US" baseline="30000" dirty="0"/>
              <a:t>2 </a:t>
            </a:r>
            <a:r>
              <a:rPr lang="en-US" altLang="en-US" dirty="0">
                <a:latin typeface="Arial" panose="020B0604020202020204" pitchFamily="34" charset="0"/>
              </a:rPr>
              <a:t>= 0</a:t>
            </a:r>
            <a:r>
              <a:rPr lang="en-US" altLang="en-US" dirty="0">
                <a:latin typeface="-webkit-standard"/>
              </a:rPr>
              <a:t>, </a:t>
            </a:r>
            <a:r>
              <a:rPr lang="en-US" altLang="en-US" dirty="0" err="1">
                <a:latin typeface="-webkit-standard"/>
              </a:rPr>
              <a:t>que</a:t>
            </a:r>
            <a:r>
              <a:rPr lang="en-US" altLang="en-US" dirty="0">
                <a:latin typeface="-webkit-standard"/>
              </a:rPr>
              <a:t> </a:t>
            </a:r>
            <a:r>
              <a:rPr lang="en-US" altLang="en-US" dirty="0" err="1">
                <a:latin typeface="-webkit-standard"/>
              </a:rPr>
              <a:t>corresponde</a:t>
            </a:r>
            <a:r>
              <a:rPr lang="en-US" altLang="en-US" dirty="0">
                <a:latin typeface="-webkit-standard"/>
              </a:rPr>
              <a:t> a S</a:t>
            </a:r>
            <a:r>
              <a:rPr lang="en-US" altLang="en-US" baseline="30000" dirty="0">
                <a:latin typeface="-webkit-standard"/>
              </a:rPr>
              <a:t>2</a:t>
            </a:r>
            <a:r>
              <a:rPr lang="en-US" altLang="en-US" dirty="0">
                <a:latin typeface="-webkit-standard"/>
              </a:rPr>
              <a:t>, </a:t>
            </a:r>
            <a:r>
              <a:rPr lang="en-US" altLang="en-US" dirty="0" err="1">
                <a:latin typeface="-webkit-standard"/>
              </a:rPr>
              <a:t>en</a:t>
            </a:r>
            <a:r>
              <a:rPr lang="en-US" altLang="en-US" dirty="0">
                <a:latin typeface="-webkit-standard"/>
              </a:rPr>
              <a:t> </a:t>
            </a:r>
            <a:r>
              <a:rPr lang="en-US" altLang="en-US" dirty="0" err="1">
                <a:latin typeface="-webkit-standard"/>
              </a:rPr>
              <a:t>si</a:t>
            </a:r>
            <a:r>
              <a:rPr lang="en-US" altLang="en-US" dirty="0">
                <a:latin typeface="-webkit-standard"/>
              </a:rPr>
              <a:t> </a:t>
            </a:r>
            <a:r>
              <a:rPr lang="en-US" altLang="en-US" dirty="0" err="1">
                <a:latin typeface="-webkit-standard"/>
              </a:rPr>
              <a:t>misma</a:t>
            </a:r>
            <a:r>
              <a:rPr lang="en-US" altLang="en-US" dirty="0">
                <a:latin typeface="-webkit-standard"/>
              </a:rPr>
              <a:t>.</a:t>
            </a:r>
          </a:p>
          <a:p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-webkit-standard"/>
              </a:rPr>
              <a:t>- </a:t>
            </a:r>
            <a:r>
              <a:rPr lang="en-US" altLang="en-US" dirty="0">
                <a:solidFill>
                  <a:schemeClr val="tx1"/>
                </a:solidFill>
                <a:latin typeface="-webkit-standard"/>
              </a:rPr>
              <a:t>también  </a:t>
            </a:r>
            <a:r>
              <a:rPr lang="en-US" altLang="en-US" dirty="0" err="1">
                <a:solidFill>
                  <a:schemeClr val="tx1"/>
                </a:solidFill>
                <a:latin typeface="-webkit-standard"/>
              </a:rPr>
              <a:t>manda</a:t>
            </a:r>
            <a:r>
              <a:rPr lang="en-US" altLang="en-US" dirty="0">
                <a:solidFill>
                  <a:schemeClr val="tx1"/>
                </a:solidFill>
                <a:latin typeface="-webkit-standard"/>
              </a:rPr>
              <a:t> </a:t>
            </a:r>
            <a:r>
              <a:rPr lang="en-US" dirty="0" err="1">
                <a:latin typeface="-webkit-standard"/>
              </a:rPr>
              <a:t>rectas</a:t>
            </a:r>
            <a:r>
              <a:rPr lang="en-US" dirty="0">
                <a:latin typeface="-webkit-standard"/>
              </a:rPr>
              <a:t> </a:t>
            </a:r>
            <a:r>
              <a:rPr lang="en-US" dirty="0" err="1">
                <a:latin typeface="-webkit-standard"/>
              </a:rPr>
              <a:t>en</a:t>
            </a:r>
            <a:r>
              <a:rPr lang="en-US" dirty="0">
                <a:latin typeface="-webkit-standard"/>
              </a:rPr>
              <a:t> </a:t>
            </a:r>
            <a:r>
              <a:rPr lang="en-US" dirty="0" err="1">
                <a:latin typeface="-webkit-standard"/>
              </a:rPr>
              <a:t>rectas</a:t>
            </a:r>
            <a:r>
              <a:rPr lang="en-US" dirty="0">
                <a:latin typeface="-webkit-standard"/>
              </a:rPr>
              <a:t>. Es </a:t>
            </a:r>
            <a:r>
              <a:rPr lang="en-US" dirty="0"/>
              <a:t>O(3,1) </a:t>
            </a:r>
            <a:r>
              <a:rPr lang="en-US" dirty="0" err="1">
                <a:latin typeface="-webkit-standard"/>
              </a:rPr>
              <a:t>transitivo</a:t>
            </a:r>
            <a:r>
              <a:rPr lang="en-US" dirty="0">
                <a:latin typeface="-webkit-standard"/>
              </a:rPr>
              <a:t> </a:t>
            </a:r>
            <a:r>
              <a:rPr lang="en-US" dirty="0" err="1">
                <a:latin typeface="-webkit-standard"/>
              </a:rPr>
              <a:t>sobre</a:t>
            </a:r>
            <a:r>
              <a:rPr lang="en-US" dirty="0">
                <a:latin typeface="-webkit-standard"/>
              </a:rPr>
              <a:t> el </a:t>
            </a:r>
            <a:r>
              <a:rPr lang="en-US" dirty="0" err="1">
                <a:latin typeface="-webkit-standard"/>
              </a:rPr>
              <a:t>espacio</a:t>
            </a:r>
            <a:r>
              <a:rPr lang="en-US" dirty="0">
                <a:latin typeface="-webkit-standard"/>
              </a:rPr>
              <a:t> de </a:t>
            </a:r>
            <a:r>
              <a:rPr lang="en-US" dirty="0" err="1">
                <a:latin typeface="-webkit-standard"/>
              </a:rPr>
              <a:t>rectas</a:t>
            </a:r>
            <a:r>
              <a:rPr lang="en-US" dirty="0">
                <a:latin typeface="-webkit-standard"/>
              </a:rPr>
              <a:t> </a:t>
            </a:r>
            <a:r>
              <a:rPr lang="en-US" dirty="0" err="1">
                <a:latin typeface="-webkit-standard"/>
              </a:rPr>
              <a:t>en</a:t>
            </a:r>
            <a:r>
              <a:rPr lang="en-US" dirty="0">
                <a:latin typeface="-webkit-standard"/>
              </a:rPr>
              <a:t> 3D</a:t>
            </a:r>
            <a:endParaRPr lang="en-US" altLang="en-US" dirty="0">
              <a:latin typeface="-webkit-standard"/>
            </a:endParaRPr>
          </a:p>
        </p:txBody>
      </p:sp>
    </p:spTree>
    <p:extLst>
      <p:ext uri="{BB962C8B-B14F-4D97-AF65-F5344CB8AC3E}">
        <p14:creationId xmlns:p14="http://schemas.microsoft.com/office/powerpoint/2010/main" val="1112405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3D2E9-E4F8-A196-446D-D1F4941DF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E31E6-0804-E4DC-A234-6031AF709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7756059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			S</a:t>
            </a:r>
            <a:r>
              <a:rPr lang="en-US" baseline="30000" dirty="0"/>
              <a:t>2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P</a:t>
            </a:r>
            <a:r>
              <a:rPr lang="en-US" baseline="30000" dirty="0"/>
              <a:t>3</a:t>
            </a:r>
            <a:r>
              <a:rPr lang="en-US" dirty="0"/>
              <a:t>, O(3,1)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922E31-9765-98CB-0446-D98B846010AE}"/>
              </a:ext>
            </a:extLst>
          </p:cNvPr>
          <p:cNvSpPr txBox="1"/>
          <p:nvPr/>
        </p:nvSpPr>
        <p:spPr>
          <a:xfrm>
            <a:off x="669544" y="1079782"/>
            <a:ext cx="8041821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Las matrices de O(3,1)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reservan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esfera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unitaria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  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condición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+y</a:t>
            </a:r>
            <a:r>
              <a:rPr lang="en-US" alt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+z</a:t>
            </a:r>
            <a:r>
              <a:rPr lang="en-US" alt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−w</a:t>
            </a:r>
            <a:r>
              <a:rPr lang="en-US" alt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= 0 se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puede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rescribir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con matrices:</a:t>
            </a:r>
            <a:endParaRPr lang="en-US" dirty="0">
              <a:latin typeface="-webkit-standard"/>
            </a:endParaRPr>
          </a:p>
          <a:p>
            <a:endParaRPr lang="en-US" dirty="0">
              <a:latin typeface="-webkit-standard"/>
            </a:endParaRPr>
          </a:p>
          <a:p>
            <a:endParaRPr lang="en-US" dirty="0">
              <a:latin typeface="-webkit-standard"/>
            </a:endParaRPr>
          </a:p>
          <a:p>
            <a:endParaRPr lang="en-US" dirty="0">
              <a:latin typeface="-webkit-standard"/>
            </a:endParaRPr>
          </a:p>
          <a:p>
            <a:endParaRPr lang="en-US" dirty="0">
              <a:latin typeface="-webkit-standard"/>
            </a:endParaRPr>
          </a:p>
          <a:p>
            <a:endParaRPr lang="en-US" dirty="0">
              <a:latin typeface="-webkit-standard"/>
            </a:endParaRPr>
          </a:p>
          <a:p>
            <a:r>
              <a:rPr lang="en-US" dirty="0">
                <a:latin typeface="-webkit-standard"/>
              </a:rPr>
              <a:t>Para M </a:t>
            </a:r>
            <a:r>
              <a:rPr lang="en-US" dirty="0" err="1">
                <a:latin typeface="-webkit-standard"/>
              </a:rPr>
              <a:t>en</a:t>
            </a:r>
            <a:r>
              <a:rPr lang="en-US" dirty="0">
                <a:latin typeface="-webkit-standard"/>
              </a:rPr>
              <a:t> O(3,1) </a:t>
            </a:r>
            <a:r>
              <a:rPr lang="en-US" dirty="0" err="1">
                <a:latin typeface="-webkit-standard"/>
              </a:rPr>
              <a:t>tenemos</a:t>
            </a:r>
            <a:r>
              <a:rPr lang="en-US" dirty="0">
                <a:latin typeface="-webkit-standard"/>
              </a:rPr>
              <a:t> </a:t>
            </a:r>
            <a:r>
              <a:rPr lang="en-US" altLang="en-US" baseline="30000" dirty="0" err="1"/>
              <a:t>t</a:t>
            </a:r>
            <a:r>
              <a:rPr lang="en-US" altLang="en-US" dirty="0" err="1"/>
              <a:t>MQM</a:t>
            </a:r>
            <a:r>
              <a:rPr lang="en-US" altLang="en-US" dirty="0"/>
              <a:t>=Q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lang="en-US" altLang="en-US" dirty="0" err="1">
                <a:latin typeface="Arial" panose="020B0604020202020204" pitchFamily="34" charset="0"/>
              </a:rPr>
              <a:t>donde</a:t>
            </a:r>
            <a:r>
              <a:rPr lang="en-US" altLang="en-US" dirty="0">
                <a:latin typeface="Arial" panose="020B0604020202020204" pitchFamily="34" charset="0"/>
              </a:rPr>
              <a:t> Q = </a:t>
            </a:r>
            <a:r>
              <a:rPr lang="en-US" altLang="en-US" dirty="0" err="1"/>
              <a:t>diag</a:t>
            </a:r>
            <a:r>
              <a:rPr lang="en-US" altLang="en-US" dirty="0"/>
              <a:t>(1,1,1,−1). Esto es, M </a:t>
            </a:r>
            <a:r>
              <a:rPr lang="en-US" altLang="en-US" dirty="0" err="1"/>
              <a:t>envía</a:t>
            </a:r>
            <a:r>
              <a:rPr lang="en-US" altLang="en-US" dirty="0"/>
              <a:t> S</a:t>
            </a:r>
            <a:r>
              <a:rPr lang="en-US" altLang="en-US" baseline="30000" dirty="0"/>
              <a:t>2</a:t>
            </a:r>
            <a:r>
              <a:rPr lang="en-US" altLang="en-US" dirty="0"/>
              <a:t> </a:t>
            </a:r>
            <a:r>
              <a:rPr lang="en-US" altLang="en-US" dirty="0" err="1"/>
              <a:t>en</a:t>
            </a:r>
            <a:r>
              <a:rPr lang="en-US" altLang="en-US" dirty="0"/>
              <a:t> S</a:t>
            </a:r>
            <a:r>
              <a:rPr lang="en-US" altLang="en-US" baseline="30000" dirty="0"/>
              <a:t>2</a:t>
            </a:r>
            <a:r>
              <a:rPr lang="en-US" altLang="en-US" dirty="0"/>
              <a:t>.</a:t>
            </a:r>
            <a:endParaRPr lang="en-US" altLang="en-US" dirty="0">
              <a:latin typeface="-webkit-standard"/>
            </a:endParaRPr>
          </a:p>
          <a:p>
            <a:endParaRPr lang="en-US" altLang="en-US" dirty="0">
              <a:latin typeface="-webkit-standard"/>
            </a:endParaRPr>
          </a:p>
          <a:p>
            <a:r>
              <a:rPr lang="en-US" altLang="en-US" dirty="0">
                <a:latin typeface="-webkit-standard"/>
              </a:rPr>
              <a:t>Un </a:t>
            </a:r>
            <a:r>
              <a:rPr lang="en-US" altLang="en-US" dirty="0" err="1">
                <a:latin typeface="-webkit-standard"/>
              </a:rPr>
              <a:t>ejemplo</a:t>
            </a:r>
            <a:r>
              <a:rPr lang="en-US" altLang="en-US" dirty="0">
                <a:latin typeface="-webkit-standard"/>
              </a:rPr>
              <a:t> </a:t>
            </a:r>
            <a:r>
              <a:rPr lang="en-US" altLang="en-US" dirty="0" err="1">
                <a:latin typeface="-webkit-standard"/>
              </a:rPr>
              <a:t>interesante</a:t>
            </a:r>
            <a:r>
              <a:rPr lang="en-US" altLang="en-US" dirty="0">
                <a:latin typeface="-webkit-standard"/>
              </a:rPr>
              <a:t> de </a:t>
            </a:r>
            <a:r>
              <a:rPr lang="en-US" altLang="en-US" dirty="0" err="1">
                <a:latin typeface="-webkit-standard"/>
              </a:rPr>
              <a:t>una</a:t>
            </a:r>
            <a:r>
              <a:rPr lang="en-US" altLang="en-US" dirty="0">
                <a:latin typeface="-webkit-standard"/>
              </a:rPr>
              <a:t> </a:t>
            </a:r>
            <a:r>
              <a:rPr lang="en-US" altLang="en-US" dirty="0" err="1">
                <a:latin typeface="-webkit-standard"/>
              </a:rPr>
              <a:t>matriz</a:t>
            </a:r>
            <a:r>
              <a:rPr lang="en-US" altLang="en-US" dirty="0">
                <a:latin typeface="-webkit-standard"/>
              </a:rPr>
              <a:t> </a:t>
            </a:r>
            <a:r>
              <a:rPr lang="en-US" altLang="en-US" dirty="0" err="1">
                <a:latin typeface="-webkit-standard"/>
              </a:rPr>
              <a:t>en</a:t>
            </a:r>
            <a:r>
              <a:rPr lang="en-US" altLang="en-US" dirty="0">
                <a:latin typeface="-webkit-standard"/>
              </a:rPr>
              <a:t> O(3,1) </a:t>
            </a:r>
            <a:r>
              <a:rPr lang="en-US" altLang="en-US" dirty="0" err="1">
                <a:latin typeface="-webkit-standard"/>
              </a:rPr>
              <a:t>que</a:t>
            </a:r>
            <a:r>
              <a:rPr lang="en-US" altLang="en-US" dirty="0">
                <a:latin typeface="-webkit-standard"/>
              </a:rPr>
              <a:t> es </a:t>
            </a:r>
            <a:r>
              <a:rPr lang="en-US" altLang="en-US" dirty="0" err="1">
                <a:latin typeface="-webkit-standard"/>
              </a:rPr>
              <a:t>una</a:t>
            </a:r>
            <a:r>
              <a:rPr lang="en-US" altLang="en-US" dirty="0">
                <a:latin typeface="-webkit-standard"/>
              </a:rPr>
              <a:t> </a:t>
            </a:r>
            <a:r>
              <a:rPr lang="en-US" altLang="en-US" dirty="0" err="1">
                <a:latin typeface="-webkit-standard"/>
              </a:rPr>
              <a:t>transformación</a:t>
            </a:r>
            <a:r>
              <a:rPr lang="en-US" altLang="en-US" dirty="0">
                <a:latin typeface="-webkit-standard"/>
              </a:rPr>
              <a:t> </a:t>
            </a:r>
            <a:r>
              <a:rPr lang="en-US" altLang="en-US" dirty="0" err="1">
                <a:latin typeface="-webkit-standard"/>
              </a:rPr>
              <a:t>proyectiva</a:t>
            </a:r>
            <a:r>
              <a:rPr lang="en-US" altLang="en-US" dirty="0">
                <a:latin typeface="-webkit-standard"/>
              </a:rPr>
              <a:t> </a:t>
            </a:r>
            <a:r>
              <a:rPr lang="en-US" altLang="en-US" dirty="0" err="1">
                <a:latin typeface="-webkit-standard"/>
              </a:rPr>
              <a:t>que</a:t>
            </a:r>
            <a:r>
              <a:rPr lang="en-US" altLang="en-US" dirty="0">
                <a:latin typeface="-webkit-standard"/>
              </a:rPr>
              <a:t> no es </a:t>
            </a:r>
            <a:r>
              <a:rPr lang="en-US" altLang="en-US" dirty="0" err="1">
                <a:latin typeface="-webkit-standard"/>
              </a:rPr>
              <a:t>una</a:t>
            </a:r>
            <a:r>
              <a:rPr lang="en-US" altLang="en-US" dirty="0">
                <a:latin typeface="-webkit-standard"/>
              </a:rPr>
              <a:t> </a:t>
            </a:r>
            <a:r>
              <a:rPr lang="en-US" altLang="en-US" dirty="0" err="1">
                <a:latin typeface="-webkit-standard"/>
              </a:rPr>
              <a:t>rotación</a:t>
            </a:r>
            <a:r>
              <a:rPr lang="en-US" altLang="en-US" dirty="0">
                <a:latin typeface="-webkit-standard"/>
              </a:rPr>
              <a:t> usual de 3D es: </a:t>
            </a:r>
          </a:p>
          <a:p>
            <a:endParaRPr lang="en-US" altLang="en-US" dirty="0">
              <a:latin typeface="-webkit-standard"/>
            </a:endParaRPr>
          </a:p>
          <a:p>
            <a:endParaRPr lang="en-US" altLang="en-US" dirty="0">
              <a:latin typeface="-webkit-standard"/>
            </a:endParaRPr>
          </a:p>
          <a:p>
            <a:endParaRPr lang="en-US" altLang="en-US" dirty="0">
              <a:latin typeface="-webkit-standard"/>
            </a:endParaRPr>
          </a:p>
          <a:p>
            <a:endParaRPr lang="en-US" altLang="en-US" dirty="0">
              <a:latin typeface="-webkit-standard"/>
            </a:endParaRPr>
          </a:p>
          <a:p>
            <a:r>
              <a:rPr lang="en-US" altLang="en-US" dirty="0">
                <a:latin typeface="-webkit-standard"/>
              </a:rPr>
              <a:t>para </a:t>
            </a:r>
            <a:r>
              <a:rPr lang="en-US" altLang="en-US" dirty="0" err="1">
                <a:latin typeface="-webkit-standard"/>
              </a:rPr>
              <a:t>cualquier</a:t>
            </a:r>
            <a:r>
              <a:rPr lang="en-US" altLang="en-US" dirty="0">
                <a:latin typeface="-webkit-standard"/>
              </a:rPr>
              <a:t> valor de t. S</a:t>
            </a:r>
            <a:r>
              <a:rPr lang="en-US" altLang="en-US" dirty="0"/>
              <a:t>e </a:t>
            </a:r>
            <a:r>
              <a:rPr lang="en-US" altLang="en-US" dirty="0" err="1"/>
              <a:t>denonmina</a:t>
            </a:r>
            <a:r>
              <a:rPr lang="en-US" altLang="en-US" dirty="0"/>
              <a:t> boost a lo largo del </a:t>
            </a:r>
            <a:r>
              <a:rPr lang="en-US" altLang="en-US" dirty="0" err="1"/>
              <a:t>eje</a:t>
            </a:r>
            <a:r>
              <a:rPr lang="en-US" altLang="en-US" dirty="0"/>
              <a:t> x (hay boosts a lo largo de y, z; y de </a:t>
            </a:r>
            <a:r>
              <a:rPr lang="en-US" altLang="en-US" dirty="0" err="1"/>
              <a:t>hecho</a:t>
            </a:r>
            <a:r>
              <a:rPr lang="en-US" altLang="en-US" dirty="0"/>
              <a:t> a lo largo de </a:t>
            </a:r>
            <a:r>
              <a:rPr lang="en-US" altLang="en-US" dirty="0" err="1"/>
              <a:t>cualquier</a:t>
            </a:r>
            <a:r>
              <a:rPr lang="en-US" altLang="en-US" dirty="0"/>
              <a:t> recta).</a:t>
            </a:r>
            <a:endParaRPr lang="en-US" altLang="en-US" dirty="0">
              <a:latin typeface="-webkit-standar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D87996-AF7C-BE57-1373-92181989C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486" y="1525061"/>
            <a:ext cx="3621635" cy="10994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B3E76E4-155E-0EB5-BF3F-03E1452C5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3486" y="3296468"/>
            <a:ext cx="2841849" cy="108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893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876D5-116B-EDB5-EAAD-72531F75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25684-FA09-7074-11DB-E21A0BB86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9384" y="445025"/>
            <a:ext cx="5109964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O(3)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subgrupo</a:t>
            </a:r>
            <a:r>
              <a:rPr lang="en-US" dirty="0"/>
              <a:t> de O(3,1)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51DA38-2B2D-A32C-4CF3-BA0035F42E96}"/>
              </a:ext>
            </a:extLst>
          </p:cNvPr>
          <p:cNvSpPr txBox="1"/>
          <p:nvPr/>
        </p:nvSpPr>
        <p:spPr>
          <a:xfrm>
            <a:off x="658090" y="1104274"/>
            <a:ext cx="7713826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dirty="0">
                <a:latin typeface="Arial" panose="020B0604020202020204" pitchFamily="34" charset="0"/>
              </a:rPr>
              <a:t>O(3) es </a:t>
            </a:r>
            <a:r>
              <a:rPr lang="en-US" altLang="en-US" dirty="0" err="1">
                <a:latin typeface="Arial" panose="020B0604020202020204" pitchFamily="34" charset="0"/>
              </a:rPr>
              <a:t>el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grupo</a:t>
            </a:r>
            <a:r>
              <a:rPr lang="en-US" altLang="en-US" dirty="0">
                <a:latin typeface="Arial" panose="020B0604020202020204" pitchFamily="34" charset="0"/>
              </a:rPr>
              <a:t> de </a:t>
            </a:r>
            <a:r>
              <a:rPr lang="en-US" altLang="en-US" dirty="0" err="1">
                <a:latin typeface="Arial" panose="020B0604020202020204" pitchFamily="34" charset="0"/>
              </a:rPr>
              <a:t>rotaciones</a:t>
            </a:r>
            <a:r>
              <a:rPr lang="en-US" altLang="en-US" dirty="0">
                <a:latin typeface="Arial" panose="020B0604020202020204" pitchFamily="34" charset="0"/>
              </a:rPr>
              <a:t> de R</a:t>
            </a:r>
            <a:r>
              <a:rPr lang="en-US" altLang="en-US" baseline="30000" dirty="0">
                <a:latin typeface="Arial" panose="020B0604020202020204" pitchFamily="34" charset="0"/>
              </a:rPr>
              <a:t>3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 err="1">
                <a:latin typeface="Arial" panose="020B0604020202020204" pitchFamily="34" charset="0"/>
              </a:rPr>
              <a:t>una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matriz</a:t>
            </a:r>
            <a:r>
              <a:rPr lang="en-US" altLang="en-US" dirty="0">
                <a:latin typeface="Arial" panose="020B0604020202020204" pitchFamily="34" charset="0"/>
              </a:rPr>
              <a:t> 3x3 R, </a:t>
            </a:r>
            <a:r>
              <a:rPr lang="en-US" altLang="en-US" dirty="0" err="1">
                <a:latin typeface="Arial" panose="020B0604020202020204" pitchFamily="34" charset="0"/>
              </a:rPr>
              <a:t>manda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/>
              <a:t>S</a:t>
            </a:r>
            <a:r>
              <a:rPr lang="en-US" altLang="en-US" baseline="30000" dirty="0"/>
              <a:t>2</a:t>
            </a:r>
            <a:r>
              <a:rPr lang="en-US" altLang="en-US" dirty="0"/>
              <a:t> </a:t>
            </a:r>
            <a:r>
              <a:rPr lang="en-US" altLang="en-US" dirty="0" err="1"/>
              <a:t>en</a:t>
            </a:r>
            <a:r>
              <a:rPr lang="en-US" altLang="en-US" dirty="0"/>
              <a:t> S</a:t>
            </a:r>
            <a:r>
              <a:rPr lang="en-US" altLang="en-US" baseline="30000" dirty="0"/>
              <a:t>2</a:t>
            </a:r>
            <a:r>
              <a:rPr lang="en-US" altLang="en-US" dirty="0"/>
              <a:t>,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R </a:t>
            </a:r>
            <a:r>
              <a:rPr lang="en-US" altLang="en-US" dirty="0" err="1">
                <a:latin typeface="Arial" panose="020B0604020202020204" pitchFamily="34" charset="0"/>
              </a:rPr>
              <a:t>satisface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baseline="30000" dirty="0" err="1">
                <a:latin typeface="Arial" panose="020B0604020202020204" pitchFamily="34" charset="0"/>
              </a:rPr>
              <a:t>t</a:t>
            </a:r>
            <a:r>
              <a:rPr lang="en-US" altLang="en-US" dirty="0" err="1">
                <a:latin typeface="Arial" panose="020B0604020202020204" pitchFamily="34" charset="0"/>
              </a:rPr>
              <a:t>RR</a:t>
            </a:r>
            <a:r>
              <a:rPr lang="en-US" altLang="en-US" dirty="0">
                <a:latin typeface="Arial" panose="020B0604020202020204" pitchFamily="34" charset="0"/>
              </a:rPr>
              <a:t> = I</a:t>
            </a:r>
            <a:r>
              <a:rPr lang="en-US" altLang="en-US" baseline="-25000" dirty="0">
                <a:latin typeface="Arial" panose="020B0604020202020204" pitchFamily="34" charset="0"/>
              </a:rPr>
              <a:t>3</a:t>
            </a:r>
            <a:r>
              <a:rPr lang="en-US" altLang="en-US" dirty="0">
                <a:latin typeface="Arial" panose="020B0604020202020204" pitchFamily="34" charset="0"/>
              </a:rPr>
              <a:t>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la </a:t>
            </a:r>
            <a:r>
              <a:rPr lang="en-US" altLang="en-US" dirty="0" err="1">
                <a:latin typeface="Arial" panose="020B0604020202020204" pitchFamily="34" charset="0"/>
              </a:rPr>
              <a:t>matriz</a:t>
            </a:r>
            <a:r>
              <a:rPr lang="en-US" altLang="en-US" dirty="0">
                <a:latin typeface="Arial" panose="020B0604020202020204" pitchFamily="34" charset="0"/>
              </a:rPr>
              <a:t> M, </a:t>
            </a:r>
            <a:r>
              <a:rPr lang="en-US" altLang="en-US" dirty="0" err="1">
                <a:latin typeface="Arial" panose="020B0604020202020204" pitchFamily="34" charset="0"/>
              </a:rPr>
              <a:t>juega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el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mismo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      </a:t>
            </a:r>
            <a:r>
              <a:rPr lang="en-US" altLang="en-US" dirty="0" err="1">
                <a:latin typeface="Arial" panose="020B0604020202020204" pitchFamily="34" charset="0"/>
              </a:rPr>
              <a:t>papel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sobre</a:t>
            </a:r>
            <a:r>
              <a:rPr lang="en-US" altLang="en-US" dirty="0">
                <a:latin typeface="Arial" panose="020B0604020202020204" pitchFamily="34" charset="0"/>
              </a:rPr>
              <a:t> la </a:t>
            </a:r>
            <a:r>
              <a:rPr lang="en-US" altLang="en-US" dirty="0" err="1">
                <a:latin typeface="Arial" panose="020B0604020202020204" pitchFamily="34" charset="0"/>
              </a:rPr>
              <a:t>cuádrica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O(3) </a:t>
            </a:r>
            <a:r>
              <a:rPr lang="en-US" altLang="en-US" dirty="0" err="1">
                <a:latin typeface="Arial" panose="020B0604020202020204" pitchFamily="34" charset="0"/>
              </a:rPr>
              <a:t>está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embebido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naturalmente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en</a:t>
            </a:r>
            <a:r>
              <a:rPr lang="en-US" altLang="en-US" dirty="0">
                <a:latin typeface="Arial" panose="020B0604020202020204" pitchFamily="34" charset="0"/>
              </a:rPr>
              <a:t> O(3,1)</a:t>
            </a:r>
          </a:p>
          <a:p>
            <a:pPr>
              <a:lnSpc>
                <a:spcPct val="150000"/>
              </a:lnSpc>
            </a:pPr>
            <a:r>
              <a:rPr lang="en-US" alt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Verifíquelo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ie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R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está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O(3)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entonces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M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está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contenido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O(3,1).</a:t>
            </a:r>
          </a:p>
          <a:p>
            <a:pPr>
              <a:lnSpc>
                <a:spcPct val="150000"/>
              </a:lnSpc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Esto es </a:t>
            </a:r>
            <a:r>
              <a:rPr lang="en-US" altLang="en-US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muy</a:t>
            </a:r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interesante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grupo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proyectivo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GL(R,4)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contiene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transformaciones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preservan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S</a:t>
            </a:r>
            <a:r>
              <a:rPr lang="en-US" alt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(o sea la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cuádrica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le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corresponde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Algunas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estas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transformaciones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preservan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centro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de S</a:t>
            </a:r>
            <a:r>
              <a:rPr lang="en-US" alt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o sea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punto [(0,0,0,1)] de P</a:t>
            </a:r>
            <a:r>
              <a:rPr lang="en-US" alt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otras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NO lo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preservan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Piense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acción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de GL(R,4)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sobre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P</a:t>
            </a:r>
            <a:r>
              <a:rPr lang="en-US" alt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“=“ R</a:t>
            </a:r>
            <a:r>
              <a:rPr lang="en-US" alt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+ plano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infinito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direcciones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de R</a:t>
            </a:r>
            <a:r>
              <a:rPr lang="en-US" alt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) y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piense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acción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de O(3,1)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sobre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R</a:t>
            </a:r>
            <a:r>
              <a:rPr lang="en-US" alt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+plano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infinito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preserva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rectas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preserva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S</a:t>
            </a:r>
            <a:r>
              <a:rPr lang="en-US" alt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2DFF88-377D-8F7E-3DD4-EA234F64A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2138" y="1429201"/>
            <a:ext cx="1834167" cy="102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382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3849E-FE31-F635-E685-56F093B68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5E6C1-1B90-DBA9-8F11-71BBBD72D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699" y="445025"/>
            <a:ext cx="8625471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O(3,1) y las </a:t>
            </a:r>
            <a:r>
              <a:rPr lang="en-US" dirty="0" err="1"/>
              <a:t>rectas</a:t>
            </a:r>
            <a:r>
              <a:rPr lang="en-US" dirty="0"/>
              <a:t> de R</a:t>
            </a:r>
            <a:r>
              <a:rPr lang="en-US" baseline="30000" dirty="0"/>
              <a:t>3</a:t>
            </a:r>
            <a:r>
              <a:rPr lang="en-US" dirty="0"/>
              <a:t> y P</a:t>
            </a:r>
            <a:r>
              <a:rPr lang="en-US" baseline="30000" dirty="0"/>
              <a:t>3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B5F1DE3-9283-719A-F7DE-A83A58E17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699" y="1331478"/>
            <a:ext cx="8077558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buClrTx/>
            </a:pPr>
            <a:r>
              <a:rPr lang="en-US" altLang="en-US" sz="1600" dirty="0"/>
              <a:t>Es </a:t>
            </a:r>
            <a:r>
              <a:rPr lang="en-US" altLang="en-US" sz="1600" dirty="0" err="1"/>
              <a:t>fácil</a:t>
            </a:r>
            <a:r>
              <a:rPr lang="en-US" altLang="en-US" sz="1600" dirty="0"/>
              <a:t> </a:t>
            </a:r>
            <a:r>
              <a:rPr lang="en-US" altLang="en-US" sz="1600" dirty="0" err="1"/>
              <a:t>ver</a:t>
            </a:r>
            <a:r>
              <a:rPr lang="en-US" altLang="en-US" sz="1600" dirty="0"/>
              <a:t> </a:t>
            </a:r>
            <a:r>
              <a:rPr lang="en-US" altLang="en-US" sz="1600" dirty="0" err="1"/>
              <a:t>que</a:t>
            </a:r>
            <a:endParaRPr lang="en-US" altLang="en-US" sz="1600" dirty="0"/>
          </a:p>
          <a:p>
            <a:pPr lvl="0">
              <a:buClrTx/>
            </a:pPr>
            <a:endParaRPr lang="en-US" altLang="en-US" sz="1600" dirty="0"/>
          </a:p>
          <a:p>
            <a:pPr lvl="0">
              <a:buClrTx/>
            </a:pPr>
            <a:r>
              <a:rPr lang="en-US" altLang="en-US" sz="1600" dirty="0">
                <a:solidFill>
                  <a:srgbClr val="000000"/>
                </a:solidFill>
              </a:rPr>
              <a:t>- </a:t>
            </a:r>
            <a:r>
              <a:rPr lang="en-US" altLang="en-US" sz="1600" dirty="0" err="1">
                <a:solidFill>
                  <a:srgbClr val="000000"/>
                </a:solidFill>
              </a:rPr>
              <a:t>si</a:t>
            </a:r>
            <a:r>
              <a:rPr lang="en-US" altLang="en-US" sz="1600" dirty="0">
                <a:solidFill>
                  <a:srgbClr val="000000"/>
                </a:solidFill>
              </a:rPr>
              <a:t> le </a:t>
            </a:r>
            <a:r>
              <a:rPr lang="en-US" altLang="en-US" sz="1600" dirty="0" err="1">
                <a:solidFill>
                  <a:srgbClr val="000000"/>
                </a:solidFill>
              </a:rPr>
              <a:t>aplico</a:t>
            </a:r>
            <a:r>
              <a:rPr lang="en-US" altLang="en-US" sz="1600" dirty="0">
                <a:solidFill>
                  <a:srgbClr val="000000"/>
                </a:solidFill>
              </a:rPr>
              <a:t> M de O(3,1) a </a:t>
            </a:r>
            <a:r>
              <a:rPr lang="en-US" altLang="en-US" sz="1600" dirty="0" err="1">
                <a:solidFill>
                  <a:srgbClr val="000000"/>
                </a:solidFill>
              </a:rPr>
              <a:t>una</a:t>
            </a:r>
            <a:r>
              <a:rPr lang="en-US" altLang="en-US" sz="1600" dirty="0">
                <a:solidFill>
                  <a:srgbClr val="000000"/>
                </a:solidFill>
              </a:rPr>
              <a:t> recta </a:t>
            </a:r>
            <a:r>
              <a:rPr lang="en-US" altLang="en-US" sz="1600" dirty="0" err="1">
                <a:solidFill>
                  <a:srgbClr val="000000"/>
                </a:solidFill>
              </a:rPr>
              <a:t>que</a:t>
            </a:r>
            <a:r>
              <a:rPr lang="en-US" altLang="en-US" sz="1600" dirty="0">
                <a:solidFill>
                  <a:srgbClr val="000000"/>
                </a:solidFill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</a:rPr>
              <a:t>corta</a:t>
            </a:r>
            <a:r>
              <a:rPr lang="en-US" altLang="en-US" sz="1600" dirty="0">
                <a:solidFill>
                  <a:srgbClr val="000000"/>
                </a:solidFill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</a:rPr>
              <a:t>en</a:t>
            </a:r>
            <a:r>
              <a:rPr lang="en-US" altLang="en-US" sz="1600" dirty="0">
                <a:solidFill>
                  <a:srgbClr val="000000"/>
                </a:solidFill>
              </a:rPr>
              <a:t> dos puntos a S</a:t>
            </a:r>
            <a:r>
              <a:rPr lang="en-US" altLang="en-US" sz="1600" baseline="30000" dirty="0">
                <a:solidFill>
                  <a:srgbClr val="000000"/>
                </a:solidFill>
              </a:rPr>
              <a:t>2</a:t>
            </a:r>
            <a:r>
              <a:rPr lang="en-US" altLang="en-US" sz="1600" dirty="0">
                <a:solidFill>
                  <a:srgbClr val="000000"/>
                </a:solidFill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</a:rPr>
              <a:t>obtengo</a:t>
            </a:r>
            <a:r>
              <a:rPr lang="en-US" altLang="en-US" sz="1600" dirty="0">
                <a:solidFill>
                  <a:srgbClr val="000000"/>
                </a:solidFill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</a:rPr>
              <a:t>una</a:t>
            </a:r>
            <a:r>
              <a:rPr lang="en-US" altLang="en-US" sz="1600" dirty="0">
                <a:solidFill>
                  <a:srgbClr val="000000"/>
                </a:solidFill>
              </a:rPr>
              <a:t> recta </a:t>
            </a:r>
            <a:r>
              <a:rPr lang="en-US" altLang="en-US" sz="1600" dirty="0" err="1">
                <a:solidFill>
                  <a:srgbClr val="000000"/>
                </a:solidFill>
              </a:rPr>
              <a:t>que</a:t>
            </a:r>
            <a:r>
              <a:rPr lang="en-US" altLang="en-US" sz="1600" dirty="0">
                <a:solidFill>
                  <a:srgbClr val="000000"/>
                </a:solidFill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</a:rPr>
              <a:t>tambien</a:t>
            </a:r>
            <a:r>
              <a:rPr lang="en-US" altLang="en-US" sz="1600" dirty="0">
                <a:solidFill>
                  <a:srgbClr val="000000"/>
                </a:solidFill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</a:rPr>
              <a:t>intersecta</a:t>
            </a:r>
            <a:r>
              <a:rPr lang="en-US" altLang="en-US" sz="1600" dirty="0">
                <a:solidFill>
                  <a:srgbClr val="000000"/>
                </a:solidFill>
              </a:rPr>
              <a:t> la </a:t>
            </a:r>
            <a:r>
              <a:rPr lang="en-US" altLang="en-US" sz="1600" dirty="0" err="1">
                <a:solidFill>
                  <a:srgbClr val="000000"/>
                </a:solidFill>
              </a:rPr>
              <a:t>esfera</a:t>
            </a:r>
            <a:r>
              <a:rPr lang="en-US" altLang="en-US" sz="1600" dirty="0">
                <a:solidFill>
                  <a:srgbClr val="000000"/>
                </a:solidFill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</a:rPr>
              <a:t>en</a:t>
            </a:r>
            <a:r>
              <a:rPr lang="en-US" altLang="en-US" sz="1600" dirty="0">
                <a:solidFill>
                  <a:srgbClr val="000000"/>
                </a:solidFill>
              </a:rPr>
              <a:t> dos puntos. </a:t>
            </a:r>
          </a:p>
          <a:p>
            <a:pPr lvl="0">
              <a:buClrTx/>
            </a:pPr>
            <a:endParaRPr lang="en-US" altLang="en-US" sz="1600" dirty="0">
              <a:solidFill>
                <a:srgbClr val="000000"/>
              </a:solidFill>
            </a:endParaRPr>
          </a:p>
          <a:p>
            <a:pPr>
              <a:buClrTx/>
            </a:pPr>
            <a:r>
              <a:rPr lang="en-US" sz="1600" dirty="0"/>
              <a:t>- O(3,1) </a:t>
            </a:r>
            <a:r>
              <a:rPr lang="en-US" sz="1600" dirty="0" err="1"/>
              <a:t>manda</a:t>
            </a:r>
            <a:r>
              <a:rPr lang="en-US" sz="1600" dirty="0"/>
              <a:t> </a:t>
            </a:r>
            <a:r>
              <a:rPr lang="en-US" sz="1600" dirty="0" err="1"/>
              <a:t>rectas</a:t>
            </a:r>
            <a:r>
              <a:rPr lang="en-US" sz="1600" dirty="0"/>
              <a:t> </a:t>
            </a:r>
            <a:r>
              <a:rPr lang="en-US" sz="1600" dirty="0" err="1"/>
              <a:t>tangentes</a:t>
            </a:r>
            <a:r>
              <a:rPr lang="en-US" sz="1600" dirty="0"/>
              <a:t> </a:t>
            </a:r>
            <a:r>
              <a:rPr lang="en-US" sz="1600" dirty="0" err="1"/>
              <a:t>en</a:t>
            </a:r>
            <a:r>
              <a:rPr lang="en-US" sz="1600" dirty="0"/>
              <a:t> S</a:t>
            </a:r>
            <a:r>
              <a:rPr lang="en-US" sz="1600" baseline="30000" dirty="0"/>
              <a:t>2 </a:t>
            </a:r>
            <a:r>
              <a:rPr lang="en-US" sz="1600" dirty="0" err="1"/>
              <a:t>en</a:t>
            </a:r>
            <a:r>
              <a:rPr lang="en-US" sz="1600" dirty="0"/>
              <a:t> </a:t>
            </a:r>
            <a:r>
              <a:rPr lang="en-US" sz="1600" dirty="0" err="1"/>
              <a:t>rectas</a:t>
            </a:r>
            <a:r>
              <a:rPr lang="en-US" sz="1600" dirty="0"/>
              <a:t> </a:t>
            </a:r>
            <a:r>
              <a:rPr lang="en-US" sz="1600" dirty="0" err="1"/>
              <a:t>tangentes</a:t>
            </a:r>
            <a:r>
              <a:rPr lang="en-US" sz="1600" dirty="0"/>
              <a:t> y las no </a:t>
            </a:r>
            <a:r>
              <a:rPr lang="en-US" sz="1600" dirty="0" err="1"/>
              <a:t>intersectantes</a:t>
            </a:r>
            <a:r>
              <a:rPr lang="en-US" sz="1600" dirty="0"/>
              <a:t> </a:t>
            </a:r>
            <a:r>
              <a:rPr lang="en-US" sz="1600" dirty="0" err="1"/>
              <a:t>en</a:t>
            </a:r>
            <a:r>
              <a:rPr lang="en-US" sz="1600" dirty="0"/>
              <a:t> no </a:t>
            </a:r>
            <a:r>
              <a:rPr lang="en-US" sz="1600" dirty="0" err="1"/>
              <a:t>intersectantes</a:t>
            </a:r>
            <a:r>
              <a:rPr lang="en-US" sz="1600" dirty="0"/>
              <a:t>. </a:t>
            </a:r>
          </a:p>
          <a:p>
            <a:pPr marL="285750" indent="-285750">
              <a:buClrTx/>
              <a:buFontTx/>
              <a:buChar char="-"/>
            </a:pPr>
            <a:endParaRPr lang="en-US" altLang="en-US" sz="1600" dirty="0">
              <a:solidFill>
                <a:srgbClr val="000000"/>
              </a:solidFill>
            </a:endParaRPr>
          </a:p>
          <a:p>
            <a:pPr>
              <a:buClrTx/>
            </a:pPr>
            <a:r>
              <a:rPr lang="en-US" altLang="en-US" sz="1600" dirty="0">
                <a:solidFill>
                  <a:srgbClr val="000000"/>
                </a:solidFill>
              </a:rPr>
              <a:t>- La </a:t>
            </a:r>
            <a:r>
              <a:rPr lang="en-US" altLang="en-US" sz="1600" dirty="0" err="1">
                <a:solidFill>
                  <a:srgbClr val="000000"/>
                </a:solidFill>
              </a:rPr>
              <a:t>acción</a:t>
            </a:r>
            <a:r>
              <a:rPr lang="en-US" altLang="en-US" sz="1600" dirty="0">
                <a:solidFill>
                  <a:srgbClr val="000000"/>
                </a:solidFill>
              </a:rPr>
              <a:t> de O(3,1) </a:t>
            </a:r>
            <a:r>
              <a:rPr lang="en-US" altLang="en-US" sz="1600" dirty="0" err="1">
                <a:solidFill>
                  <a:srgbClr val="000000"/>
                </a:solidFill>
              </a:rPr>
              <a:t>sobre</a:t>
            </a:r>
            <a:r>
              <a:rPr lang="en-US" altLang="en-US" sz="1600" dirty="0">
                <a:solidFill>
                  <a:srgbClr val="000000"/>
                </a:solidFill>
              </a:rPr>
              <a:t> S</a:t>
            </a:r>
            <a:r>
              <a:rPr lang="en-US" altLang="en-US" sz="1600" baseline="30000" dirty="0">
                <a:solidFill>
                  <a:srgbClr val="000000"/>
                </a:solidFill>
              </a:rPr>
              <a:t>2</a:t>
            </a:r>
            <a:r>
              <a:rPr lang="en-US" altLang="en-US" sz="1600" dirty="0">
                <a:solidFill>
                  <a:srgbClr val="000000"/>
                </a:solidFill>
              </a:rPr>
              <a:t> es </a:t>
            </a:r>
            <a:r>
              <a:rPr lang="en-US" altLang="en-US" sz="1600" dirty="0" err="1">
                <a:solidFill>
                  <a:srgbClr val="000000"/>
                </a:solidFill>
              </a:rPr>
              <a:t>transitiva</a:t>
            </a:r>
            <a:r>
              <a:rPr lang="en-US" altLang="en-US" sz="1600" dirty="0">
                <a:solidFill>
                  <a:srgbClr val="000000"/>
                </a:solidFill>
              </a:rPr>
              <a:t>. Dados DOS pares de puntos </a:t>
            </a:r>
            <a:r>
              <a:rPr lang="en-US" altLang="en-US" sz="1600" dirty="0" err="1">
                <a:solidFill>
                  <a:srgbClr val="000000"/>
                </a:solidFill>
              </a:rPr>
              <a:t>distintos</a:t>
            </a:r>
            <a:r>
              <a:rPr lang="en-US" altLang="en-US" sz="1600" dirty="0">
                <a:solidFill>
                  <a:srgbClr val="000000"/>
                </a:solidFill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</a:rPr>
              <a:t>en</a:t>
            </a:r>
            <a:r>
              <a:rPr lang="en-US" altLang="en-US" sz="1600" dirty="0">
                <a:solidFill>
                  <a:srgbClr val="000000"/>
                </a:solidFill>
              </a:rPr>
              <a:t> S</a:t>
            </a:r>
            <a:r>
              <a:rPr lang="en-US" altLang="en-US" sz="1600" baseline="30000" dirty="0">
                <a:solidFill>
                  <a:srgbClr val="000000"/>
                </a:solidFill>
              </a:rPr>
              <a:t>2</a:t>
            </a:r>
            <a:r>
              <a:rPr lang="en-US" altLang="en-US" sz="1600" dirty="0">
                <a:solidFill>
                  <a:srgbClr val="000000"/>
                </a:solidFill>
              </a:rPr>
              <a:t>, </a:t>
            </a:r>
            <a:r>
              <a:rPr lang="en-US" altLang="en-US" sz="1600" dirty="0" err="1">
                <a:solidFill>
                  <a:srgbClr val="000000"/>
                </a:solidFill>
              </a:rPr>
              <a:t>siempre</a:t>
            </a:r>
            <a:r>
              <a:rPr lang="en-US" altLang="en-US" sz="1600" dirty="0">
                <a:solidFill>
                  <a:srgbClr val="000000"/>
                </a:solidFill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</a:rPr>
              <a:t>existe</a:t>
            </a:r>
            <a:r>
              <a:rPr lang="en-US" altLang="en-US" sz="1600" dirty="0">
                <a:solidFill>
                  <a:srgbClr val="000000"/>
                </a:solidFill>
              </a:rPr>
              <a:t> un </a:t>
            </a:r>
            <a:r>
              <a:rPr lang="en-US" altLang="en-US" sz="1600" dirty="0" err="1">
                <a:solidFill>
                  <a:srgbClr val="000000"/>
                </a:solidFill>
              </a:rPr>
              <a:t>elemento</a:t>
            </a:r>
            <a:r>
              <a:rPr lang="en-US" altLang="en-US" sz="1600" dirty="0">
                <a:solidFill>
                  <a:srgbClr val="000000"/>
                </a:solidFill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</a:rPr>
              <a:t>en</a:t>
            </a:r>
            <a:r>
              <a:rPr lang="en-US" altLang="en-US" sz="1600" dirty="0">
                <a:solidFill>
                  <a:srgbClr val="000000"/>
                </a:solidFill>
              </a:rPr>
              <a:t> O(3,1) </a:t>
            </a:r>
            <a:r>
              <a:rPr lang="en-US" altLang="en-US" sz="1600" dirty="0" err="1">
                <a:solidFill>
                  <a:srgbClr val="000000"/>
                </a:solidFill>
              </a:rPr>
              <a:t>que</a:t>
            </a:r>
            <a:r>
              <a:rPr lang="en-US" altLang="en-US" sz="1600" dirty="0">
                <a:solidFill>
                  <a:srgbClr val="000000"/>
                </a:solidFill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</a:rPr>
              <a:t>envia</a:t>
            </a:r>
            <a:r>
              <a:rPr lang="en-US" altLang="en-US" sz="1600" dirty="0">
                <a:solidFill>
                  <a:srgbClr val="000000"/>
                </a:solidFill>
              </a:rPr>
              <a:t> un par </a:t>
            </a:r>
            <a:r>
              <a:rPr lang="en-US" altLang="en-US" sz="1600" dirty="0" err="1">
                <a:solidFill>
                  <a:srgbClr val="000000"/>
                </a:solidFill>
              </a:rPr>
              <a:t>en</a:t>
            </a:r>
            <a:r>
              <a:rPr lang="en-US" altLang="en-US" sz="1600" dirty="0">
                <a:solidFill>
                  <a:srgbClr val="000000"/>
                </a:solidFill>
              </a:rPr>
              <a:t> el </a:t>
            </a:r>
            <a:r>
              <a:rPr lang="en-US" altLang="en-US" sz="1600" dirty="0" err="1">
                <a:solidFill>
                  <a:srgbClr val="000000"/>
                </a:solidFill>
              </a:rPr>
              <a:t>otro</a:t>
            </a:r>
            <a:r>
              <a:rPr lang="en-US" altLang="en-US" sz="1600" dirty="0">
                <a:solidFill>
                  <a:srgbClr val="000000"/>
                </a:solidFill>
              </a:rPr>
              <a:t>. </a:t>
            </a:r>
          </a:p>
          <a:p>
            <a:pPr marL="285750" indent="-285750">
              <a:buClrTx/>
              <a:buFontTx/>
              <a:buChar char="-"/>
            </a:pPr>
            <a:endParaRPr lang="en-US" altLang="en-US" sz="1600" dirty="0">
              <a:solidFill>
                <a:srgbClr val="000000"/>
              </a:solidFill>
            </a:endParaRPr>
          </a:p>
          <a:p>
            <a:pPr>
              <a:buClrTx/>
            </a:pPr>
            <a:r>
              <a:rPr lang="en-US" altLang="en-US" sz="1600" dirty="0">
                <a:solidFill>
                  <a:srgbClr val="000000"/>
                </a:solidFill>
              </a:rPr>
              <a:t>Note </a:t>
            </a:r>
            <a:r>
              <a:rPr lang="en-US" altLang="en-US" sz="1600" dirty="0" err="1">
                <a:solidFill>
                  <a:srgbClr val="000000"/>
                </a:solidFill>
              </a:rPr>
              <a:t>que</a:t>
            </a:r>
            <a:r>
              <a:rPr lang="en-US" altLang="en-US" sz="1600" dirty="0">
                <a:solidFill>
                  <a:srgbClr val="000000"/>
                </a:solidFill>
              </a:rPr>
              <a:t> el </a:t>
            </a:r>
            <a:r>
              <a:rPr lang="en-US" altLang="en-US" sz="1600" dirty="0" err="1">
                <a:solidFill>
                  <a:srgbClr val="000000"/>
                </a:solidFill>
              </a:rPr>
              <a:t>subgrupo</a:t>
            </a:r>
            <a:r>
              <a:rPr lang="en-US" altLang="en-US" sz="1600" dirty="0">
                <a:solidFill>
                  <a:srgbClr val="000000"/>
                </a:solidFill>
              </a:rPr>
              <a:t> de O(3,1) </a:t>
            </a:r>
            <a:r>
              <a:rPr lang="en-US" altLang="en-US" sz="1600" dirty="0" err="1">
                <a:solidFill>
                  <a:srgbClr val="000000"/>
                </a:solidFill>
              </a:rPr>
              <a:t>que</a:t>
            </a:r>
            <a:r>
              <a:rPr lang="en-US" altLang="en-US" sz="1600" dirty="0">
                <a:solidFill>
                  <a:srgbClr val="000000"/>
                </a:solidFill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</a:rPr>
              <a:t>consiste</a:t>
            </a:r>
            <a:r>
              <a:rPr lang="en-US" altLang="en-US" sz="1600" dirty="0">
                <a:solidFill>
                  <a:srgbClr val="000000"/>
                </a:solidFill>
              </a:rPr>
              <a:t> de </a:t>
            </a:r>
            <a:r>
              <a:rPr lang="en-US" altLang="en-US" sz="1600" dirty="0" err="1">
                <a:solidFill>
                  <a:srgbClr val="000000"/>
                </a:solidFill>
              </a:rPr>
              <a:t>rotaciones</a:t>
            </a:r>
            <a:r>
              <a:rPr lang="en-US" altLang="en-US" sz="1600" dirty="0">
                <a:solidFill>
                  <a:srgbClr val="000000"/>
                </a:solidFill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</a:rPr>
              <a:t>en</a:t>
            </a:r>
            <a:r>
              <a:rPr lang="en-US" altLang="en-US" sz="1600" dirty="0">
                <a:solidFill>
                  <a:srgbClr val="000000"/>
                </a:solidFill>
              </a:rPr>
              <a:t> 3D, no es </a:t>
            </a:r>
            <a:r>
              <a:rPr lang="en-US" altLang="en-US" sz="1600" dirty="0" err="1">
                <a:solidFill>
                  <a:srgbClr val="000000"/>
                </a:solidFill>
              </a:rPr>
              <a:t>transitivo</a:t>
            </a:r>
            <a:r>
              <a:rPr lang="en-US" altLang="en-US" sz="1600" dirty="0">
                <a:solidFill>
                  <a:srgbClr val="000000"/>
                </a:solidFill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</a:rPr>
              <a:t>sobre</a:t>
            </a:r>
            <a:r>
              <a:rPr lang="en-US" altLang="en-US" sz="1600" dirty="0">
                <a:solidFill>
                  <a:srgbClr val="000000"/>
                </a:solidFill>
              </a:rPr>
              <a:t> las </a:t>
            </a:r>
            <a:r>
              <a:rPr lang="en-US" altLang="en-US" sz="1600" dirty="0" err="1">
                <a:solidFill>
                  <a:srgbClr val="000000"/>
                </a:solidFill>
              </a:rPr>
              <a:t>rectas</a:t>
            </a:r>
            <a:r>
              <a:rPr lang="en-US" altLang="en-US" sz="1600" dirty="0">
                <a:solidFill>
                  <a:srgbClr val="000000"/>
                </a:solidFill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</a:rPr>
              <a:t>que</a:t>
            </a:r>
            <a:r>
              <a:rPr lang="en-US" altLang="en-US" sz="1600" dirty="0">
                <a:solidFill>
                  <a:srgbClr val="000000"/>
                </a:solidFill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</a:rPr>
              <a:t>cortan</a:t>
            </a:r>
            <a:r>
              <a:rPr lang="en-US" altLang="en-US" sz="1600" dirty="0">
                <a:solidFill>
                  <a:srgbClr val="000000"/>
                </a:solidFill>
              </a:rPr>
              <a:t> la </a:t>
            </a:r>
            <a:r>
              <a:rPr lang="en-US" altLang="en-US" sz="1600" dirty="0" err="1">
                <a:solidFill>
                  <a:srgbClr val="000000"/>
                </a:solidFill>
              </a:rPr>
              <a:t>esfera</a:t>
            </a:r>
            <a:r>
              <a:rPr lang="en-US" altLang="en-US" sz="1600" dirty="0">
                <a:solidFill>
                  <a:srgbClr val="000000"/>
                </a:solidFill>
              </a:rPr>
              <a:t> de Riemann </a:t>
            </a:r>
            <a:r>
              <a:rPr lang="en-US" altLang="en-US" sz="1600" dirty="0" err="1">
                <a:solidFill>
                  <a:srgbClr val="000000"/>
                </a:solidFill>
              </a:rPr>
              <a:t>en</a:t>
            </a:r>
            <a:r>
              <a:rPr lang="en-US" altLang="en-US" sz="1600" dirty="0">
                <a:solidFill>
                  <a:srgbClr val="000000"/>
                </a:solidFill>
              </a:rPr>
              <a:t> dos puntos. </a:t>
            </a:r>
            <a:r>
              <a:rPr lang="en-US" altLang="en-US" sz="1600" dirty="0">
                <a:solidFill>
                  <a:srgbClr val="FF0000"/>
                </a:solidFill>
              </a:rPr>
              <a:t>Pero O(3,1) </a:t>
            </a:r>
            <a:r>
              <a:rPr lang="en-US" altLang="en-US" sz="1600" dirty="0" err="1">
                <a:solidFill>
                  <a:srgbClr val="FF0000"/>
                </a:solidFill>
              </a:rPr>
              <a:t>si</a:t>
            </a:r>
            <a:r>
              <a:rPr lang="en-US" altLang="en-US" sz="1600" dirty="0">
                <a:solidFill>
                  <a:srgbClr val="FF0000"/>
                </a:solidFill>
              </a:rPr>
              <a:t> lo es</a:t>
            </a:r>
            <a:r>
              <a:rPr lang="en-US" altLang="en-US" sz="1600" dirty="0">
                <a:solidFill>
                  <a:srgbClr val="0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64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461E5-9B00-A8CF-A89F-5DF4C9E5F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CC563-D67A-1CBE-4D1C-1AE13C74C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699" y="445025"/>
            <a:ext cx="8625471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Lo </a:t>
            </a:r>
            <a:r>
              <a:rPr lang="en-US" dirty="0" err="1"/>
              <a:t>próximo</a:t>
            </a:r>
            <a:r>
              <a:rPr lang="en-US" dirty="0"/>
              <a:t>,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húmero</a:t>
            </a:r>
            <a:r>
              <a:rPr lang="en-US" dirty="0"/>
              <a:t>: </a:t>
            </a:r>
            <a:r>
              <a:rPr lang="en-US" dirty="0" err="1"/>
              <a:t>esfera</a:t>
            </a:r>
            <a:r>
              <a:rPr lang="en-US" dirty="0"/>
              <a:t> y recta</a:t>
            </a:r>
            <a:endParaRPr lang="en-US" baseline="30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6EA477-FF4A-86EE-290A-E5328DC72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604" y="1445975"/>
            <a:ext cx="1638034" cy="8293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4097D44-F49E-668E-65E5-AE5806C4C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4" y="1233494"/>
            <a:ext cx="6510741" cy="328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61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374E9-102A-FD6B-C6AA-69B61B373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2E294-02F5-DB55-9F11-AAF6463C6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El </a:t>
            </a:r>
            <a:r>
              <a:rPr lang="en-US" dirty="0" err="1"/>
              <a:t>húmero</a:t>
            </a:r>
            <a:r>
              <a:rPr lang="en-US" dirty="0"/>
              <a:t>: cabeza, </a:t>
            </a:r>
            <a:r>
              <a:rPr lang="en-US" dirty="0" err="1"/>
              <a:t>cuello</a:t>
            </a:r>
            <a:r>
              <a:rPr lang="en-US" dirty="0"/>
              <a:t> </a:t>
            </a:r>
            <a:r>
              <a:rPr lang="en-US" dirty="0" err="1"/>
              <a:t>quirúrgico</a:t>
            </a:r>
            <a:r>
              <a:rPr lang="en-US" dirty="0"/>
              <a:t> 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C1030-210A-158C-0556-C721FA476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1" y="4117975"/>
            <a:ext cx="7222955" cy="691769"/>
          </a:xfrm>
        </p:spPr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r>
              <a:rPr lang="en-US" dirty="0" err="1"/>
              <a:t>Descripción</a:t>
            </a:r>
            <a:r>
              <a:rPr lang="en-US" dirty="0"/>
              <a:t> </a:t>
            </a:r>
            <a:r>
              <a:rPr lang="en-US" dirty="0" err="1"/>
              <a:t>matemática</a:t>
            </a:r>
            <a:r>
              <a:rPr lang="en-US" dirty="0"/>
              <a:t>: la recta (</a:t>
            </a:r>
            <a:r>
              <a:rPr lang="en-US" dirty="0" err="1"/>
              <a:t>eje</a:t>
            </a:r>
            <a:r>
              <a:rPr lang="en-US" dirty="0"/>
              <a:t> del </a:t>
            </a:r>
            <a:r>
              <a:rPr lang="en-US" dirty="0" err="1"/>
              <a:t>brazo</a:t>
            </a:r>
            <a:r>
              <a:rPr lang="en-US" dirty="0"/>
              <a:t> del </a:t>
            </a:r>
            <a:r>
              <a:rPr lang="en-US" dirty="0" err="1"/>
              <a:t>húmero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no </a:t>
            </a:r>
            <a:r>
              <a:rPr lang="en-US" dirty="0" err="1">
                <a:solidFill>
                  <a:schemeClr val="accent1"/>
                </a:solidFill>
              </a:rPr>
              <a:t>pasa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centro</a:t>
            </a:r>
            <a:r>
              <a:rPr lang="en-US" dirty="0"/>
              <a:t> de la </a:t>
            </a:r>
            <a:r>
              <a:rPr lang="en-US" dirty="0" err="1"/>
              <a:t>esfera</a:t>
            </a:r>
            <a:r>
              <a:rPr lang="en-US" dirty="0"/>
              <a:t>)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B292A4-450C-069A-BC18-99291E740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752" y="1134292"/>
            <a:ext cx="5916167" cy="26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04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C363A-79AE-51D6-C471-8DD864420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5DCA1-6317-8692-8476-F5C8E49FC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1928226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El </a:t>
            </a:r>
            <a:r>
              <a:rPr lang="en-US" dirty="0" err="1"/>
              <a:t>húmero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65EB6-F118-2ABD-CFB1-BF4A8FDF93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47719" y="936936"/>
            <a:ext cx="2637062" cy="920216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400" dirty="0" err="1"/>
              <a:t>Descripción</a:t>
            </a:r>
            <a:r>
              <a:rPr lang="en-US" sz="1400" dirty="0"/>
              <a:t> </a:t>
            </a:r>
            <a:r>
              <a:rPr lang="en-US" sz="1400" dirty="0" err="1"/>
              <a:t>matemática</a:t>
            </a:r>
            <a:r>
              <a:rPr lang="en-US" sz="1400" dirty="0"/>
              <a:t>: la recta (</a:t>
            </a:r>
            <a:r>
              <a:rPr lang="en-US" sz="1400" dirty="0" err="1"/>
              <a:t>eje</a:t>
            </a:r>
            <a:r>
              <a:rPr lang="en-US" sz="1400" dirty="0"/>
              <a:t> de la recta </a:t>
            </a:r>
            <a:r>
              <a:rPr lang="en-US" sz="1400" dirty="0">
                <a:solidFill>
                  <a:schemeClr val="accent1"/>
                </a:solidFill>
              </a:rPr>
              <a:t>no </a:t>
            </a:r>
            <a:r>
              <a:rPr lang="en-US" sz="1400" dirty="0" err="1">
                <a:solidFill>
                  <a:schemeClr val="accent1"/>
                </a:solidFill>
              </a:rPr>
              <a:t>pasa</a:t>
            </a:r>
            <a:r>
              <a:rPr lang="en-US" sz="1400" dirty="0">
                <a:solidFill>
                  <a:schemeClr val="accent1"/>
                </a:solidFill>
              </a:rPr>
              <a:t> </a:t>
            </a:r>
            <a:r>
              <a:rPr lang="en-US" sz="1400" dirty="0" err="1"/>
              <a:t>por</a:t>
            </a:r>
            <a:r>
              <a:rPr lang="en-US" sz="1400" dirty="0"/>
              <a:t> </a:t>
            </a:r>
            <a:r>
              <a:rPr lang="en-US" sz="1400" dirty="0" err="1"/>
              <a:t>el</a:t>
            </a:r>
            <a:r>
              <a:rPr lang="en-US" sz="1400" dirty="0"/>
              <a:t> </a:t>
            </a:r>
            <a:r>
              <a:rPr lang="en-US" sz="1400" dirty="0" err="1"/>
              <a:t>centro</a:t>
            </a:r>
            <a:r>
              <a:rPr lang="en-US" sz="1400" dirty="0"/>
              <a:t> de la </a:t>
            </a:r>
            <a:r>
              <a:rPr lang="en-US" sz="1400" dirty="0" err="1"/>
              <a:t>esfera</a:t>
            </a:r>
            <a:r>
              <a:rPr lang="en-US" sz="1400" dirty="0"/>
              <a:t>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6947D0-9800-B5B2-B542-8491CCCB3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5" y="638487"/>
            <a:ext cx="2329214" cy="3983020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9AB1F89-46CF-02DE-A12C-F12A77A41368}"/>
              </a:ext>
            </a:extLst>
          </p:cNvPr>
          <p:cNvSpPr txBox="1">
            <a:spLocks/>
          </p:cNvSpPr>
          <p:nvPr/>
        </p:nvSpPr>
        <p:spPr>
          <a:xfrm>
            <a:off x="5781047" y="1994065"/>
            <a:ext cx="2971067" cy="2635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200" dirty="0"/>
              <a:t>Si </a:t>
            </a:r>
            <a:r>
              <a:rPr lang="en-US" sz="1200" dirty="0" err="1"/>
              <a:t>tienes</a:t>
            </a:r>
            <a:r>
              <a:rPr lang="en-US" sz="1200" dirty="0"/>
              <a:t> el </a:t>
            </a:r>
            <a:r>
              <a:rPr lang="en-US" sz="1200" dirty="0" err="1"/>
              <a:t>stl</a:t>
            </a:r>
            <a:r>
              <a:rPr lang="en-US" sz="1200" dirty="0"/>
              <a:t> del </a:t>
            </a:r>
            <a:r>
              <a:rPr lang="en-US" sz="1200" dirty="0" err="1"/>
              <a:t>húmero</a:t>
            </a:r>
            <a:r>
              <a:rPr lang="en-US" sz="1200" dirty="0"/>
              <a:t>, la </a:t>
            </a:r>
            <a:r>
              <a:rPr lang="en-US" sz="1200" dirty="0" err="1"/>
              <a:t>esfera</a:t>
            </a:r>
            <a:r>
              <a:rPr lang="en-US" sz="1200" dirty="0"/>
              <a:t> </a:t>
            </a:r>
            <a:r>
              <a:rPr lang="en-US" sz="1200" dirty="0" err="1"/>
              <a:t>aproximante</a:t>
            </a:r>
            <a:r>
              <a:rPr lang="en-US" sz="1200" dirty="0"/>
              <a:t> y el </a:t>
            </a:r>
            <a:r>
              <a:rPr lang="en-US" sz="1200" dirty="0" err="1"/>
              <a:t>eje</a:t>
            </a:r>
            <a:r>
              <a:rPr lang="en-US" sz="1200" dirty="0"/>
              <a:t> se </a:t>
            </a:r>
            <a:r>
              <a:rPr lang="en-US" sz="1200" dirty="0" err="1"/>
              <a:t>pueden</a:t>
            </a:r>
            <a:r>
              <a:rPr lang="en-US" sz="1200" dirty="0"/>
              <a:t> </a:t>
            </a:r>
            <a:r>
              <a:rPr lang="en-US" sz="1200" dirty="0" err="1"/>
              <a:t>aproximar</a:t>
            </a:r>
            <a:r>
              <a:rPr lang="en-US" sz="1200" dirty="0"/>
              <a:t> </a:t>
            </a:r>
            <a:r>
              <a:rPr lang="en-US" sz="1200" dirty="0" err="1"/>
              <a:t>directamente</a:t>
            </a:r>
            <a:r>
              <a:rPr lang="en-US" sz="1200" dirty="0"/>
              <a:t> de la </a:t>
            </a:r>
            <a:r>
              <a:rPr lang="en-US" sz="1200" dirty="0" err="1"/>
              <a:t>triangulación</a:t>
            </a:r>
            <a:r>
              <a:rPr lang="en-US" sz="1200" dirty="0"/>
              <a:t>.</a:t>
            </a:r>
          </a:p>
          <a:p>
            <a:r>
              <a:rPr lang="en-US" sz="1200" dirty="0"/>
              <a:t>Si </a:t>
            </a:r>
            <a:r>
              <a:rPr lang="en-US" sz="1200" dirty="0" err="1"/>
              <a:t>tienes</a:t>
            </a:r>
            <a:r>
              <a:rPr lang="en-US" sz="1200" dirty="0"/>
              <a:t> </a:t>
            </a:r>
            <a:r>
              <a:rPr lang="en-US" sz="1200" dirty="0" err="1"/>
              <a:t>los</a:t>
            </a:r>
            <a:r>
              <a:rPr lang="en-US" sz="1200" dirty="0"/>
              <a:t> MRI: Tu </a:t>
            </a:r>
            <a:r>
              <a:rPr lang="en-US" sz="1200" dirty="0" err="1"/>
              <a:t>sistema</a:t>
            </a:r>
            <a:r>
              <a:rPr lang="en-US" sz="1200" dirty="0"/>
              <a:t> </a:t>
            </a:r>
            <a:r>
              <a:rPr lang="en-US" sz="1200" dirty="0" err="1"/>
              <a:t>calcula</a:t>
            </a:r>
            <a:r>
              <a:rPr lang="en-US" sz="1200" dirty="0"/>
              <a:t> </a:t>
            </a:r>
            <a:r>
              <a:rPr lang="en-US" sz="1200" dirty="0" err="1"/>
              <a:t>arcos</a:t>
            </a:r>
            <a:r>
              <a:rPr lang="en-US" sz="1200" dirty="0"/>
              <a:t> de </a:t>
            </a:r>
            <a:r>
              <a:rPr lang="en-US" sz="1200" dirty="0" err="1"/>
              <a:t>circulos</a:t>
            </a:r>
            <a:r>
              <a:rPr lang="en-US" sz="1200" dirty="0"/>
              <a:t> </a:t>
            </a:r>
            <a:r>
              <a:rPr lang="en-US" sz="1200" dirty="0" err="1"/>
              <a:t>que</a:t>
            </a:r>
            <a:r>
              <a:rPr lang="en-US" sz="1200" dirty="0"/>
              <a:t> </a:t>
            </a:r>
            <a:r>
              <a:rPr lang="en-US" sz="1200" dirty="0" err="1"/>
              <a:t>yacen</a:t>
            </a:r>
            <a:r>
              <a:rPr lang="en-US" sz="1200" dirty="0"/>
              <a:t> </a:t>
            </a:r>
            <a:r>
              <a:rPr lang="en-US" sz="1200" dirty="0" err="1"/>
              <a:t>en</a:t>
            </a:r>
            <a:r>
              <a:rPr lang="en-US" sz="1200" dirty="0"/>
              <a:t> </a:t>
            </a:r>
            <a:r>
              <a:rPr lang="en-US" sz="1200" dirty="0" err="1"/>
              <a:t>planos</a:t>
            </a:r>
            <a:r>
              <a:rPr lang="en-US" sz="1200" dirty="0"/>
              <a:t> </a:t>
            </a:r>
            <a:r>
              <a:rPr lang="en-US" sz="1200" dirty="0" err="1"/>
              <a:t>paralelos,a</a:t>
            </a:r>
            <a:r>
              <a:rPr lang="en-US" sz="1200" dirty="0"/>
              <a:t> </a:t>
            </a:r>
            <a:r>
              <a:rPr lang="en-US" sz="1200" dirty="0" err="1"/>
              <a:t>partir</a:t>
            </a:r>
            <a:r>
              <a:rPr lang="en-US" sz="1200" dirty="0"/>
              <a:t> de </a:t>
            </a:r>
            <a:r>
              <a:rPr lang="en-US" sz="1200" dirty="0" err="1"/>
              <a:t>estos</a:t>
            </a:r>
            <a:r>
              <a:rPr lang="en-US" sz="1200" dirty="0"/>
              <a:t> </a:t>
            </a:r>
            <a:r>
              <a:rPr lang="en-US" sz="1200" dirty="0" err="1"/>
              <a:t>puedes</a:t>
            </a:r>
            <a:r>
              <a:rPr lang="en-US" sz="1200" dirty="0"/>
              <a:t> </a:t>
            </a:r>
            <a:r>
              <a:rPr lang="en-US" sz="1200" dirty="0" err="1"/>
              <a:t>generar</a:t>
            </a:r>
            <a:r>
              <a:rPr lang="en-US" sz="1200" dirty="0"/>
              <a:t> la </a:t>
            </a:r>
            <a:r>
              <a:rPr lang="en-US" sz="1200" dirty="0" err="1"/>
              <a:t>esfera</a:t>
            </a:r>
            <a:r>
              <a:rPr lang="en-US" sz="1200" dirty="0"/>
              <a:t> </a:t>
            </a:r>
            <a:r>
              <a:rPr lang="en-US" sz="1200" dirty="0" err="1"/>
              <a:t>aproximante</a:t>
            </a:r>
            <a:r>
              <a:rPr lang="en-US" sz="1200" dirty="0"/>
              <a:t> a la </a:t>
            </a:r>
            <a:r>
              <a:rPr lang="en-US" sz="1200" dirty="0" err="1"/>
              <a:t>superficie</a:t>
            </a:r>
            <a:r>
              <a:rPr lang="en-US" sz="1200" dirty="0"/>
              <a:t> articular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68732B-7CDD-DA5F-518F-F9AA3DE1D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88" y="1372840"/>
            <a:ext cx="2139795" cy="2316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453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21472-D7F8-6369-4B6D-50452AAD8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9905C-60D7-8F3F-187B-A5EE201FA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2360616" cy="5727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Otro</a:t>
            </a:r>
            <a:r>
              <a:rPr lang="en-US" dirty="0"/>
              <a:t> </a:t>
            </a:r>
            <a:r>
              <a:rPr lang="en-US" dirty="0" err="1"/>
              <a:t>ejemplo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16EE51-DF08-CC07-6E58-308FE0A41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20" y="1117981"/>
            <a:ext cx="7077551" cy="3852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444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34964-DFF0-FCF9-5413-472731A3B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48F70-C6B9-F70B-B698-42CBED124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 </a:t>
            </a:r>
            <a:r>
              <a:rPr lang="en-US" dirty="0" err="1"/>
              <a:t>próximo</a:t>
            </a:r>
            <a:r>
              <a:rPr lang="en-US" dirty="0"/>
              <a:t>:  </a:t>
            </a:r>
            <a:r>
              <a:rPr lang="en-US" dirty="0" err="1"/>
              <a:t>enviar</a:t>
            </a:r>
            <a:r>
              <a:rPr lang="en-US" dirty="0"/>
              <a:t> un </a:t>
            </a:r>
            <a:r>
              <a:rPr lang="en-US" dirty="0" err="1"/>
              <a:t>húmero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otro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3CF362-1639-0E70-27DD-FDBC4BB05410}"/>
              </a:ext>
            </a:extLst>
          </p:cNvPr>
          <p:cNvSpPr txBox="1"/>
          <p:nvPr/>
        </p:nvSpPr>
        <p:spPr>
          <a:xfrm>
            <a:off x="782596" y="1017725"/>
            <a:ext cx="727401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Consideramos</a:t>
            </a:r>
            <a:r>
              <a:rPr lang="en-US" dirty="0"/>
              <a:t> </a:t>
            </a:r>
            <a:r>
              <a:rPr lang="en-US" dirty="0" err="1"/>
              <a:t>esfera</a:t>
            </a:r>
            <a:r>
              <a:rPr lang="en-US" dirty="0"/>
              <a:t> </a:t>
            </a:r>
            <a:r>
              <a:rPr lang="en-US" dirty="0" err="1"/>
              <a:t>aproximante</a:t>
            </a:r>
            <a:r>
              <a:rPr lang="en-US" dirty="0"/>
              <a:t> de la </a:t>
            </a:r>
            <a:r>
              <a:rPr lang="en-US" dirty="0" err="1"/>
              <a:t>superficie</a:t>
            </a:r>
            <a:r>
              <a:rPr lang="en-US" dirty="0"/>
              <a:t> articular y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eje</a:t>
            </a:r>
            <a:r>
              <a:rPr lang="en-US" dirty="0"/>
              <a:t> del </a:t>
            </a:r>
            <a:r>
              <a:rPr lang="en-US" dirty="0" err="1"/>
              <a:t>húmero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 primer paso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direción</a:t>
            </a:r>
            <a:r>
              <a:rPr lang="en-US" dirty="0"/>
              <a:t> de </a:t>
            </a:r>
            <a:r>
              <a:rPr lang="en-US" dirty="0" err="1"/>
              <a:t>enviar</a:t>
            </a:r>
            <a:r>
              <a:rPr lang="en-US" dirty="0"/>
              <a:t> un </a:t>
            </a:r>
            <a:r>
              <a:rPr lang="en-US" dirty="0" err="1"/>
              <a:t>húmero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otro</a:t>
            </a:r>
            <a:r>
              <a:rPr lang="en-US" dirty="0"/>
              <a:t> es </a:t>
            </a:r>
            <a:r>
              <a:rPr lang="en-US" dirty="0" err="1"/>
              <a:t>construir</a:t>
            </a:r>
            <a:r>
              <a:rPr lang="en-US" dirty="0"/>
              <a:t> las </a:t>
            </a:r>
            <a:r>
              <a:rPr lang="en-US" dirty="0" err="1"/>
              <a:t>esferas</a:t>
            </a:r>
            <a:r>
              <a:rPr lang="en-US" dirty="0"/>
              <a:t> </a:t>
            </a:r>
            <a:r>
              <a:rPr lang="en-US" dirty="0" err="1"/>
              <a:t>aproximantes</a:t>
            </a:r>
            <a:r>
              <a:rPr lang="en-US" dirty="0"/>
              <a:t> a las superficies </a:t>
            </a:r>
            <a:r>
              <a:rPr lang="en-US" dirty="0" err="1"/>
              <a:t>articulares</a:t>
            </a:r>
            <a:r>
              <a:rPr lang="en-US" dirty="0"/>
              <a:t> y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ejes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brazos</a:t>
            </a:r>
            <a:r>
              <a:rPr lang="en-US" dirty="0"/>
              <a:t>, y </a:t>
            </a:r>
            <a:r>
              <a:rPr lang="en-US" dirty="0" err="1"/>
              <a:t>encontrar</a:t>
            </a:r>
            <a:r>
              <a:rPr lang="en-US" dirty="0"/>
              <a:t> </a:t>
            </a:r>
            <a:r>
              <a:rPr lang="en-US" dirty="0" err="1"/>
              <a:t>transformaciones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envían</a:t>
            </a:r>
            <a:r>
              <a:rPr lang="en-US" dirty="0"/>
              <a:t> un par </a:t>
            </a:r>
            <a:r>
              <a:rPr lang="en-US" dirty="0" err="1"/>
              <a:t>esfera</a:t>
            </a:r>
            <a:r>
              <a:rPr lang="en-US" dirty="0"/>
              <a:t>/</a:t>
            </a:r>
            <a:r>
              <a:rPr lang="en-US" dirty="0" err="1"/>
              <a:t>eje</a:t>
            </a:r>
            <a:r>
              <a:rPr lang="en-US" dirty="0"/>
              <a:t> o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otro</a:t>
            </a:r>
            <a:r>
              <a:rPr lang="en-U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Podriamos</a:t>
            </a:r>
            <a:r>
              <a:rPr lang="en-US" dirty="0"/>
              <a:t> </a:t>
            </a:r>
            <a:r>
              <a:rPr lang="en-US" dirty="0" err="1"/>
              <a:t>considerar</a:t>
            </a:r>
            <a:r>
              <a:rPr lang="en-US" dirty="0"/>
              <a:t> </a:t>
            </a:r>
            <a:r>
              <a:rPr lang="en-US" dirty="0" err="1"/>
              <a:t>transformaciones</a:t>
            </a:r>
            <a:r>
              <a:rPr lang="en-US" dirty="0"/>
              <a:t> de un </a:t>
            </a:r>
            <a:r>
              <a:rPr lang="en-US" dirty="0" err="1"/>
              <a:t>grupo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preserva</a:t>
            </a:r>
            <a:r>
              <a:rPr lang="en-US" dirty="0"/>
              <a:t> </a:t>
            </a:r>
            <a:r>
              <a:rPr lang="en-US" dirty="0" err="1"/>
              <a:t>esferas</a:t>
            </a:r>
            <a:r>
              <a:rPr lang="en-US" dirty="0"/>
              <a:t> y </a:t>
            </a:r>
            <a:r>
              <a:rPr lang="en-US" dirty="0" err="1"/>
              <a:t>manda</a:t>
            </a:r>
            <a:r>
              <a:rPr lang="en-US" dirty="0"/>
              <a:t> </a:t>
            </a:r>
            <a:r>
              <a:rPr lang="en-US" dirty="0" err="1"/>
              <a:t>rectas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rectas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 </a:t>
            </a:r>
            <a:r>
              <a:rPr lang="en-US" dirty="0" err="1"/>
              <a:t>propuesta</a:t>
            </a:r>
            <a:r>
              <a:rPr lang="en-US" dirty="0"/>
              <a:t> es </a:t>
            </a:r>
            <a:r>
              <a:rPr lang="en-US" dirty="0" err="1"/>
              <a:t>considerar</a:t>
            </a:r>
            <a:r>
              <a:rPr lang="en-US" dirty="0"/>
              <a:t> </a:t>
            </a:r>
            <a:r>
              <a:rPr lang="en-US" dirty="0" err="1"/>
              <a:t>transformaciones</a:t>
            </a:r>
            <a:r>
              <a:rPr lang="en-US" dirty="0"/>
              <a:t> de la forma:</a:t>
            </a:r>
          </a:p>
          <a:p>
            <a:endParaRPr lang="en-US" dirty="0"/>
          </a:p>
          <a:p>
            <a:r>
              <a:rPr lang="en-US" dirty="0" err="1"/>
              <a:t>donde</a:t>
            </a:r>
            <a:r>
              <a:rPr lang="en-US" dirty="0"/>
              <a:t> R es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transformación</a:t>
            </a:r>
            <a:r>
              <a:rPr lang="en-US" dirty="0"/>
              <a:t> </a:t>
            </a:r>
            <a:r>
              <a:rPr lang="en-US" dirty="0" err="1"/>
              <a:t>ortogonal</a:t>
            </a:r>
            <a:r>
              <a:rPr lang="en-US" dirty="0"/>
              <a:t> de 3D (no </a:t>
            </a:r>
            <a:r>
              <a:rPr lang="en-US" dirty="0" err="1"/>
              <a:t>necesariamente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rotación</a:t>
            </a:r>
            <a:r>
              <a:rPr lang="en-US" dirty="0"/>
              <a:t>), s es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contracción</a:t>
            </a:r>
            <a:r>
              <a:rPr lang="en-US" dirty="0"/>
              <a:t>/</a:t>
            </a:r>
            <a:r>
              <a:rPr lang="en-US" dirty="0" err="1"/>
              <a:t>dilatación</a:t>
            </a:r>
            <a:r>
              <a:rPr lang="en-US" dirty="0"/>
              <a:t> y b es vector de </a:t>
            </a:r>
            <a:r>
              <a:rPr lang="en-US" dirty="0" err="1"/>
              <a:t>traslación</a:t>
            </a:r>
            <a:r>
              <a:rPr lang="en-US" dirty="0"/>
              <a:t>.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Hay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determinar</a:t>
            </a:r>
            <a:r>
              <a:rPr lang="en-US" dirty="0"/>
              <a:t> s, la </a:t>
            </a:r>
            <a:r>
              <a:rPr lang="en-US" dirty="0" err="1"/>
              <a:t>transformación</a:t>
            </a:r>
            <a:r>
              <a:rPr lang="en-US" dirty="0"/>
              <a:t> </a:t>
            </a:r>
            <a:r>
              <a:rPr lang="en-US" dirty="0" err="1"/>
              <a:t>ortogonal</a:t>
            </a:r>
            <a:r>
              <a:rPr lang="en-US" dirty="0"/>
              <a:t>  R y b.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791778-0FAE-1F6F-6B00-1358AA322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059" y="2798702"/>
            <a:ext cx="1828800" cy="502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068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20280-36B2-D48F-C9AC-AC22A10FD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75B84-E7AA-B5D0-C157-00F7643EF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Grok propone: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55DF18-7B9A-2179-CFAD-DA05251A34F9}"/>
              </a:ext>
            </a:extLst>
          </p:cNvPr>
          <p:cNvSpPr txBox="1"/>
          <p:nvPr/>
        </p:nvSpPr>
        <p:spPr>
          <a:xfrm>
            <a:off x="782596" y="980654"/>
            <a:ext cx="72740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Dados </a:t>
            </a:r>
            <a:r>
              <a:rPr lang="en-US" dirty="0" err="1"/>
              <a:t>los</a:t>
            </a:r>
            <a:r>
              <a:rPr lang="en-US" dirty="0"/>
              <a:t> dos pares </a:t>
            </a:r>
            <a:r>
              <a:rPr lang="en-US" dirty="0" err="1"/>
              <a:t>esfera</a:t>
            </a:r>
            <a:r>
              <a:rPr lang="en-US" dirty="0"/>
              <a:t>/</a:t>
            </a:r>
            <a:r>
              <a:rPr lang="en-US" dirty="0" err="1"/>
              <a:t>eje</a:t>
            </a:r>
            <a:r>
              <a:rPr lang="en-US" dirty="0"/>
              <a:t> de dos </a:t>
            </a:r>
            <a:r>
              <a:rPr lang="en-US" dirty="0" err="1"/>
              <a:t>humeros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=1,2: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9FD78B-51E3-4212-D404-F4AF912DD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211" y="1266607"/>
            <a:ext cx="6390930" cy="15087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33D3AC-FF8B-EBE5-B677-7856305D5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914" y="2775390"/>
            <a:ext cx="5560542" cy="4525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7B9988-8B28-7845-778C-B95B84305F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596" y="3133519"/>
            <a:ext cx="5426527" cy="1852056"/>
          </a:xfrm>
          <a:prstGeom prst="rect">
            <a:avLst/>
          </a:prstGeom>
        </p:spPr>
      </p:pic>
      <p:sp>
        <p:nvSpPr>
          <p:cNvPr id="10" name="Process 9">
            <a:extLst>
              <a:ext uri="{FF2B5EF4-FFF2-40B4-BE49-F238E27FC236}">
                <a16:creationId xmlns:a16="http://schemas.microsoft.com/office/drawing/2014/main" id="{610BD806-5AF0-5772-E306-3FBF4446FF06}"/>
              </a:ext>
            </a:extLst>
          </p:cNvPr>
          <p:cNvSpPr/>
          <p:nvPr/>
        </p:nvSpPr>
        <p:spPr>
          <a:xfrm>
            <a:off x="6171398" y="2556809"/>
            <a:ext cx="1952367" cy="614969"/>
          </a:xfrm>
          <a:prstGeom prst="flowChartProcess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BF6917B-DBDB-C7C7-F0A7-FE00631F9B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3181" y="2612941"/>
            <a:ext cx="1828800" cy="502703"/>
          </a:xfrm>
          <a:prstGeom prst="rect">
            <a:avLst/>
          </a:prstGeom>
          <a:solidFill>
            <a:srgbClr val="FFC000"/>
          </a:solidFill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E7C2DC0-F7B5-1418-0DD1-26F11827D6A8}"/>
              </a:ext>
            </a:extLst>
          </p:cNvPr>
          <p:cNvSpPr txBox="1"/>
          <p:nvPr/>
        </p:nvSpPr>
        <p:spPr>
          <a:xfrm>
            <a:off x="6171398" y="3370788"/>
            <a:ext cx="29021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 err="1">
                <a:solidFill>
                  <a:schemeClr val="accent1"/>
                </a:solidFill>
              </a:rPr>
              <a:t>Ejercicio</a:t>
            </a:r>
            <a:r>
              <a:rPr lang="en-US" alt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: </a:t>
            </a:r>
            <a:r>
              <a:rPr lang="en-US" dirty="0" err="1"/>
              <a:t>Considere</a:t>
            </a:r>
            <a:r>
              <a:rPr lang="en-US" dirty="0"/>
              <a:t> dos pares </a:t>
            </a:r>
            <a:r>
              <a:rPr lang="en-US" dirty="0" err="1"/>
              <a:t>esfera</a:t>
            </a:r>
            <a:r>
              <a:rPr lang="en-US" dirty="0"/>
              <a:t>/recta </a:t>
            </a:r>
            <a:r>
              <a:rPr lang="en-US" dirty="0" err="1"/>
              <a:t>intersectante</a:t>
            </a:r>
            <a:r>
              <a:rPr lang="en-US" dirty="0"/>
              <a:t>, </a:t>
            </a:r>
            <a:r>
              <a:rPr lang="en-US" dirty="0" err="1"/>
              <a:t>encuentre</a:t>
            </a:r>
            <a:r>
              <a:rPr lang="en-US" dirty="0"/>
              <a:t> T. </a:t>
            </a:r>
            <a:r>
              <a:rPr lang="en-US" dirty="0" err="1"/>
              <a:t>Despliegue</a:t>
            </a:r>
            <a:r>
              <a:rPr lang="en-US" dirty="0"/>
              <a:t> </a:t>
            </a:r>
            <a:r>
              <a:rPr lang="en-US" dirty="0" err="1"/>
              <a:t>gráficamente</a:t>
            </a:r>
            <a:r>
              <a:rPr lang="en-US" dirty="0"/>
              <a:t> o </a:t>
            </a:r>
            <a:r>
              <a:rPr lang="en-US" dirty="0" err="1"/>
              <a:t>calcule</a:t>
            </a:r>
            <a:r>
              <a:rPr lang="en-US" dirty="0"/>
              <a:t>  T </a:t>
            </a:r>
            <a:r>
              <a:rPr lang="en-US" dirty="0" err="1"/>
              <a:t>matemáticamente</a:t>
            </a:r>
            <a:r>
              <a:rPr lang="en-US" dirty="0"/>
              <a:t>. </a:t>
            </a:r>
            <a:r>
              <a:rPr lang="en-US" dirty="0" err="1"/>
              <a:t>Verifique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R es </a:t>
            </a:r>
            <a:r>
              <a:rPr lang="en-US" dirty="0" err="1"/>
              <a:t>ortogonal</a:t>
            </a:r>
            <a:r>
              <a:rPr lang="en-US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5D797A-E617-04C1-39DC-B5AA14ED2565}"/>
              </a:ext>
            </a:extLst>
          </p:cNvPr>
          <p:cNvSpPr txBox="1"/>
          <p:nvPr/>
        </p:nvSpPr>
        <p:spPr>
          <a:xfrm>
            <a:off x="2305361" y="3193885"/>
            <a:ext cx="29021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,      </a:t>
            </a:r>
            <a:r>
              <a:rPr lang="en-US" sz="1200" dirty="0" err="1"/>
              <a:t>los</a:t>
            </a:r>
            <a:r>
              <a:rPr lang="en-US" sz="1200" dirty="0"/>
              <a:t> R</a:t>
            </a:r>
            <a:r>
              <a:rPr lang="en-US" sz="1200" baseline="-25000" dirty="0"/>
              <a:t>i</a:t>
            </a:r>
            <a:r>
              <a:rPr lang="en-US" sz="1200" dirty="0"/>
              <a:t> son </a:t>
            </a:r>
            <a:r>
              <a:rPr lang="en-US" sz="1200" dirty="0" err="1"/>
              <a:t>los</a:t>
            </a:r>
            <a:r>
              <a:rPr lang="en-US" sz="1200" dirty="0"/>
              <a:t> radios de las </a:t>
            </a:r>
            <a:r>
              <a:rPr lang="en-US" sz="1200" dirty="0" err="1"/>
              <a:t>esferas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18031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B9CA8-F9C7-973A-E075-EC04E2125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FA0BC-92A7-F57C-0E24-13266BA58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 </a:t>
            </a:r>
            <a:r>
              <a:rPr lang="en-US" dirty="0" err="1"/>
              <a:t>ejemplo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74FAD9-D57C-A053-9002-49868B724661}"/>
              </a:ext>
            </a:extLst>
          </p:cNvPr>
          <p:cNvSpPr txBox="1"/>
          <p:nvPr/>
        </p:nvSpPr>
        <p:spPr>
          <a:xfrm>
            <a:off x="782596" y="1017725"/>
            <a:ext cx="23833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El primer par </a:t>
            </a:r>
            <a:r>
              <a:rPr lang="en-US" dirty="0" err="1"/>
              <a:t>esfera</a:t>
            </a:r>
            <a:r>
              <a:rPr lang="en-US" dirty="0"/>
              <a:t>/</a:t>
            </a:r>
            <a:r>
              <a:rPr lang="en-US" dirty="0" err="1"/>
              <a:t>eje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09E57E-3948-9B7F-C21C-E46B9A38C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388" y="2775390"/>
            <a:ext cx="4168347" cy="3581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FE2D37-0891-B327-DBE0-6B042504D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074" y="3167725"/>
            <a:ext cx="4485096" cy="1530749"/>
          </a:xfrm>
          <a:prstGeom prst="rect">
            <a:avLst/>
          </a:prstGeom>
        </p:spPr>
      </p:pic>
      <p:sp>
        <p:nvSpPr>
          <p:cNvPr id="10" name="Process 9">
            <a:extLst>
              <a:ext uri="{FF2B5EF4-FFF2-40B4-BE49-F238E27FC236}">
                <a16:creationId xmlns:a16="http://schemas.microsoft.com/office/drawing/2014/main" id="{447C3C79-D018-6024-37E2-E37DA862BB24}"/>
              </a:ext>
            </a:extLst>
          </p:cNvPr>
          <p:cNvSpPr/>
          <p:nvPr/>
        </p:nvSpPr>
        <p:spPr>
          <a:xfrm>
            <a:off x="6171398" y="2556809"/>
            <a:ext cx="1952367" cy="614969"/>
          </a:xfrm>
          <a:prstGeom prst="flowChartProcess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17DF09-7EB9-79BC-B6E9-54D0B77307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181" y="2612941"/>
            <a:ext cx="1828800" cy="502703"/>
          </a:xfrm>
          <a:prstGeom prst="rect">
            <a:avLst/>
          </a:prstGeom>
          <a:solidFill>
            <a:srgbClr val="FFC000"/>
          </a:solidFill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56FDC4E-0083-9CD6-BAFC-E8B50B6B2D53}"/>
              </a:ext>
            </a:extLst>
          </p:cNvPr>
          <p:cNvSpPr txBox="1"/>
          <p:nvPr/>
        </p:nvSpPr>
        <p:spPr>
          <a:xfrm>
            <a:off x="6171398" y="3370788"/>
            <a:ext cx="29021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 err="1">
                <a:solidFill>
                  <a:schemeClr val="accent1"/>
                </a:solidFill>
              </a:rPr>
              <a:t>Ejercicio</a:t>
            </a:r>
            <a:r>
              <a:rPr lang="en-US" alt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: </a:t>
            </a:r>
            <a:r>
              <a:rPr lang="en-US" dirty="0" err="1"/>
              <a:t>Considere</a:t>
            </a:r>
            <a:r>
              <a:rPr lang="en-US" dirty="0"/>
              <a:t> dos pares </a:t>
            </a:r>
            <a:r>
              <a:rPr lang="en-US" dirty="0" err="1"/>
              <a:t>esfera</a:t>
            </a:r>
            <a:r>
              <a:rPr lang="en-US" dirty="0"/>
              <a:t>/recta </a:t>
            </a:r>
            <a:r>
              <a:rPr lang="en-US" dirty="0" err="1"/>
              <a:t>intersectante</a:t>
            </a:r>
            <a:r>
              <a:rPr lang="en-US" dirty="0"/>
              <a:t>, </a:t>
            </a:r>
            <a:r>
              <a:rPr lang="en-US" dirty="0" err="1"/>
              <a:t>encuentre</a:t>
            </a:r>
            <a:r>
              <a:rPr lang="en-US" dirty="0"/>
              <a:t> T. </a:t>
            </a:r>
            <a:r>
              <a:rPr lang="en-US" dirty="0" err="1"/>
              <a:t>Despliegue</a:t>
            </a:r>
            <a:r>
              <a:rPr lang="en-US" dirty="0"/>
              <a:t> </a:t>
            </a:r>
            <a:r>
              <a:rPr lang="en-US" dirty="0" err="1"/>
              <a:t>gráficamente</a:t>
            </a:r>
            <a:r>
              <a:rPr lang="en-US" dirty="0"/>
              <a:t> o </a:t>
            </a:r>
            <a:r>
              <a:rPr lang="en-US" dirty="0" err="1"/>
              <a:t>calcule</a:t>
            </a:r>
            <a:r>
              <a:rPr lang="en-US" dirty="0"/>
              <a:t>  T </a:t>
            </a:r>
            <a:r>
              <a:rPr lang="en-US" dirty="0" err="1"/>
              <a:t>matemáticamente</a:t>
            </a:r>
            <a:r>
              <a:rPr lang="en-US" dirty="0"/>
              <a:t>. </a:t>
            </a:r>
            <a:r>
              <a:rPr lang="en-US" dirty="0" err="1"/>
              <a:t>Verifique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R es </a:t>
            </a:r>
            <a:r>
              <a:rPr lang="en-US" dirty="0" err="1"/>
              <a:t>ortogonal</a:t>
            </a:r>
            <a:r>
              <a:rPr lang="en-US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97CB79-9AC2-D44B-8034-7A1B507A8E15}"/>
              </a:ext>
            </a:extLst>
          </p:cNvPr>
          <p:cNvSpPr txBox="1"/>
          <p:nvPr/>
        </p:nvSpPr>
        <p:spPr>
          <a:xfrm>
            <a:off x="2330079" y="3208915"/>
            <a:ext cx="2513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,      </a:t>
            </a:r>
            <a:r>
              <a:rPr lang="en-US" sz="1000" dirty="0" err="1"/>
              <a:t>los</a:t>
            </a:r>
            <a:r>
              <a:rPr lang="en-US" sz="1000" dirty="0"/>
              <a:t> R</a:t>
            </a:r>
            <a:r>
              <a:rPr lang="en-US" sz="1000" baseline="-25000" dirty="0"/>
              <a:t>i</a:t>
            </a:r>
            <a:r>
              <a:rPr lang="en-US" sz="1000" dirty="0"/>
              <a:t> son </a:t>
            </a:r>
            <a:r>
              <a:rPr lang="en-US" sz="1000" dirty="0" err="1"/>
              <a:t>los</a:t>
            </a:r>
            <a:r>
              <a:rPr lang="en-US" sz="1000" dirty="0"/>
              <a:t> radios de las </a:t>
            </a:r>
            <a:r>
              <a:rPr lang="en-US" sz="1000" dirty="0" err="1"/>
              <a:t>esferas</a:t>
            </a:r>
            <a:endParaRPr 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CB4AE2-FA31-04CF-CC5E-75119CDB04E6}"/>
              </a:ext>
            </a:extLst>
          </p:cNvPr>
          <p:cNvSpPr txBox="1"/>
          <p:nvPr/>
        </p:nvSpPr>
        <p:spPr>
          <a:xfrm>
            <a:off x="787516" y="1868213"/>
            <a:ext cx="2496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El </a:t>
            </a:r>
            <a:r>
              <a:rPr lang="en-US" dirty="0" err="1"/>
              <a:t>segundo</a:t>
            </a:r>
            <a:r>
              <a:rPr lang="en-US" dirty="0"/>
              <a:t> par </a:t>
            </a:r>
            <a:r>
              <a:rPr lang="en-US" dirty="0" err="1"/>
              <a:t>esfera</a:t>
            </a:r>
            <a:r>
              <a:rPr lang="en-US" dirty="0"/>
              <a:t>/</a:t>
            </a:r>
            <a:r>
              <a:rPr lang="en-US" dirty="0" err="1"/>
              <a:t>eje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75A3652-E5BE-0B6C-B8BC-A32482BD09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4342" y="1695314"/>
            <a:ext cx="3874461" cy="62829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D39F74C-F751-3516-5C48-275400DE10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6982" y="881679"/>
            <a:ext cx="3961821" cy="702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548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B82B0-C3F7-22B7-FC00-AE1852610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58870-376A-3F6F-AB12-C52E88F0E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Ocurre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situación</a:t>
            </a:r>
            <a:r>
              <a:rPr lang="en-US" dirty="0"/>
              <a:t> </a:t>
            </a:r>
            <a:r>
              <a:rPr lang="en-US" dirty="0" err="1"/>
              <a:t>interesante</a:t>
            </a:r>
            <a:r>
              <a:rPr lang="en-US" dirty="0"/>
              <a:t>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7C8BE2-83C8-D53F-2E4C-C0BF0608165B}"/>
              </a:ext>
            </a:extLst>
          </p:cNvPr>
          <p:cNvSpPr txBox="1"/>
          <p:nvPr/>
        </p:nvSpPr>
        <p:spPr>
          <a:xfrm>
            <a:off x="782596" y="1017725"/>
            <a:ext cx="727401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Sean d</a:t>
            </a:r>
            <a:r>
              <a:rPr lang="en-US" baseline="-25000" dirty="0"/>
              <a:t>1</a:t>
            </a:r>
            <a:r>
              <a:rPr lang="en-US" dirty="0"/>
              <a:t> y d</a:t>
            </a:r>
            <a:r>
              <a:rPr lang="en-US" baseline="-25000" dirty="0"/>
              <a:t>2</a:t>
            </a:r>
            <a:r>
              <a:rPr lang="en-US" dirty="0"/>
              <a:t> las </a:t>
            </a:r>
            <a:r>
              <a:rPr lang="en-US" dirty="0" err="1"/>
              <a:t>distancias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centros</a:t>
            </a:r>
            <a:r>
              <a:rPr lang="en-US" dirty="0"/>
              <a:t> de las </a:t>
            </a:r>
            <a:r>
              <a:rPr lang="en-US" dirty="0" err="1"/>
              <a:t>esferas</a:t>
            </a:r>
            <a:r>
              <a:rPr lang="en-US" dirty="0"/>
              <a:t> a las </a:t>
            </a:r>
            <a:r>
              <a:rPr lang="en-US" dirty="0" err="1"/>
              <a:t>rectas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 no se </a:t>
            </a:r>
            <a:r>
              <a:rPr lang="en-US" dirty="0" err="1"/>
              <a:t>satisface</a:t>
            </a:r>
            <a:r>
              <a:rPr lang="en-US" dirty="0"/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la T </a:t>
            </a:r>
            <a:r>
              <a:rPr lang="en-US" dirty="0" err="1"/>
              <a:t>construida</a:t>
            </a:r>
            <a:r>
              <a:rPr lang="en-US" dirty="0"/>
              <a:t> </a:t>
            </a:r>
            <a:r>
              <a:rPr lang="en-US" dirty="0" err="1"/>
              <a:t>podría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no </a:t>
            </a:r>
            <a:r>
              <a:rPr lang="en-US" dirty="0" err="1">
                <a:solidFill>
                  <a:srgbClr val="FF0000"/>
                </a:solidFill>
              </a:rPr>
              <a:t>llevar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/>
              <a:t>exactamente</a:t>
            </a:r>
            <a:r>
              <a:rPr lang="en-US" dirty="0"/>
              <a:t> un par </a:t>
            </a:r>
            <a:r>
              <a:rPr lang="en-US" dirty="0" err="1"/>
              <a:t>esfera</a:t>
            </a:r>
            <a:r>
              <a:rPr lang="en-US" dirty="0"/>
              <a:t>/recta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otro</a:t>
            </a:r>
            <a:endParaRPr lang="en-US" dirty="0"/>
          </a:p>
          <a:p>
            <a:endParaRPr lang="en-US" dirty="0"/>
          </a:p>
          <a:p>
            <a:r>
              <a:rPr lang="en-US" altLang="en-US" dirty="0" err="1">
                <a:solidFill>
                  <a:schemeClr val="accent1"/>
                </a:solidFill>
              </a:rPr>
              <a:t>Ejercicio</a:t>
            </a:r>
            <a:r>
              <a:rPr lang="en-US" dirty="0"/>
              <a:t>: </a:t>
            </a:r>
            <a:r>
              <a:rPr lang="en-US" dirty="0" err="1"/>
              <a:t>ilustre</a:t>
            </a:r>
            <a:r>
              <a:rPr lang="en-US" dirty="0"/>
              <a:t> </a:t>
            </a:r>
            <a:r>
              <a:rPr lang="en-US" dirty="0" err="1"/>
              <a:t>graficamente</a:t>
            </a:r>
            <a:r>
              <a:rPr lang="en-US" dirty="0"/>
              <a:t> las dos </a:t>
            </a:r>
            <a:r>
              <a:rPr lang="en-US" dirty="0" err="1"/>
              <a:t>situaciones</a:t>
            </a:r>
            <a:r>
              <a:rPr lang="en-US" dirty="0"/>
              <a:t>, </a:t>
            </a:r>
            <a:r>
              <a:rPr lang="en-US" dirty="0" err="1"/>
              <a:t>cuando</a:t>
            </a:r>
            <a:r>
              <a:rPr lang="en-US" dirty="0"/>
              <a:t> la </a:t>
            </a:r>
            <a:r>
              <a:rPr lang="en-US" dirty="0" err="1"/>
              <a:t>igualdad</a:t>
            </a:r>
            <a:r>
              <a:rPr lang="en-US" dirty="0"/>
              <a:t> de </a:t>
            </a:r>
            <a:r>
              <a:rPr lang="en-US" dirty="0" err="1"/>
              <a:t>arriba</a:t>
            </a:r>
            <a:r>
              <a:rPr lang="en-US" dirty="0"/>
              <a:t> se </a:t>
            </a:r>
            <a:r>
              <a:rPr lang="en-US" dirty="0" err="1"/>
              <a:t>cumple</a:t>
            </a:r>
            <a:r>
              <a:rPr lang="en-US" dirty="0"/>
              <a:t> y </a:t>
            </a:r>
            <a:r>
              <a:rPr lang="en-US" dirty="0" err="1"/>
              <a:t>cuando</a:t>
            </a:r>
            <a:r>
              <a:rPr lang="en-US" dirty="0"/>
              <a:t> no se </a:t>
            </a:r>
            <a:r>
              <a:rPr lang="en-US" dirty="0" err="1"/>
              <a:t>cumple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Queremos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un par sea </a:t>
            </a:r>
            <a:r>
              <a:rPr lang="en-US" dirty="0" err="1"/>
              <a:t>enviado</a:t>
            </a:r>
            <a:r>
              <a:rPr lang="en-US" dirty="0"/>
              <a:t> </a:t>
            </a:r>
            <a:r>
              <a:rPr lang="en-US" b="1" dirty="0" err="1"/>
              <a:t>exactamente</a:t>
            </a:r>
            <a:r>
              <a:rPr lang="en-US" dirty="0"/>
              <a:t> al </a:t>
            </a:r>
            <a:r>
              <a:rPr lang="en-US" dirty="0" err="1"/>
              <a:t>otro</a:t>
            </a:r>
            <a:r>
              <a:rPr lang="en-US" dirty="0"/>
              <a:t> par. </a:t>
            </a:r>
          </a:p>
          <a:p>
            <a:r>
              <a:rPr lang="en-US" dirty="0"/>
              <a:t>Como </a:t>
            </a:r>
            <a:r>
              <a:rPr lang="en-US" dirty="0" err="1"/>
              <a:t>podemos</a:t>
            </a:r>
            <a:r>
              <a:rPr lang="en-US" dirty="0"/>
              <a:t> </a:t>
            </a:r>
            <a:r>
              <a:rPr lang="en-US" dirty="0" err="1"/>
              <a:t>garantizar</a:t>
            </a:r>
            <a:r>
              <a:rPr lang="en-US" dirty="0"/>
              <a:t> </a:t>
            </a:r>
            <a:r>
              <a:rPr lang="en-US" dirty="0" err="1"/>
              <a:t>eso</a:t>
            </a:r>
            <a:r>
              <a:rPr lang="en-US" dirty="0"/>
              <a:t>? </a:t>
            </a:r>
          </a:p>
          <a:p>
            <a:endParaRPr lang="en-US" dirty="0"/>
          </a:p>
          <a:p>
            <a:r>
              <a:rPr lang="en-US" dirty="0" err="1"/>
              <a:t>Usaremos</a:t>
            </a:r>
            <a:r>
              <a:rPr lang="en-US" dirty="0"/>
              <a:t> O(3,1),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manda</a:t>
            </a:r>
            <a:r>
              <a:rPr lang="en-US" dirty="0"/>
              <a:t> la </a:t>
            </a:r>
            <a:r>
              <a:rPr lang="en-US" dirty="0" err="1"/>
              <a:t>esfera</a:t>
            </a:r>
            <a:r>
              <a:rPr lang="en-US" dirty="0"/>
              <a:t> </a:t>
            </a:r>
            <a:r>
              <a:rPr lang="en-US" dirty="0" err="1"/>
              <a:t>unitaria</a:t>
            </a:r>
            <a:r>
              <a:rPr lang="en-US" dirty="0"/>
              <a:t> S</a:t>
            </a:r>
            <a:r>
              <a:rPr lang="en-US" baseline="30000" dirty="0"/>
              <a:t>2</a:t>
            </a:r>
            <a:r>
              <a:rPr lang="en-US" dirty="0"/>
              <a:t> y </a:t>
            </a:r>
            <a:r>
              <a:rPr lang="en-US" dirty="0" err="1"/>
              <a:t>una</a:t>
            </a:r>
            <a:r>
              <a:rPr lang="en-US" dirty="0"/>
              <a:t> recta </a:t>
            </a:r>
            <a:r>
              <a:rPr lang="en-US" dirty="0" err="1"/>
              <a:t>intersectante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S</a:t>
            </a:r>
            <a:r>
              <a:rPr lang="en-US" baseline="30000" dirty="0"/>
              <a:t>2</a:t>
            </a:r>
            <a:r>
              <a:rPr lang="en-US" dirty="0"/>
              <a:t> y </a:t>
            </a:r>
            <a:r>
              <a:rPr lang="en-US" dirty="0" err="1"/>
              <a:t>otra</a:t>
            </a:r>
            <a:r>
              <a:rPr lang="en-US" dirty="0"/>
              <a:t> recta </a:t>
            </a:r>
            <a:r>
              <a:rPr lang="en-US" dirty="0" err="1"/>
              <a:t>intersectante</a:t>
            </a:r>
            <a:r>
              <a:rPr lang="en-US" dirty="0"/>
              <a:t>, </a:t>
            </a:r>
            <a:r>
              <a:rPr lang="en-US" dirty="0" err="1"/>
              <a:t>pudiendo</a:t>
            </a:r>
            <a:r>
              <a:rPr lang="en-US" dirty="0"/>
              <a:t> </a:t>
            </a:r>
            <a:r>
              <a:rPr lang="en-US" dirty="0" err="1"/>
              <a:t>alterar</a:t>
            </a:r>
            <a:r>
              <a:rPr lang="en-US" dirty="0"/>
              <a:t> la </a:t>
            </a:r>
            <a:r>
              <a:rPr lang="en-US" dirty="0" err="1"/>
              <a:t>razón</a:t>
            </a:r>
            <a:r>
              <a:rPr lang="en-US" dirty="0"/>
              <a:t> R/d.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119A4F-4514-EFDE-83A3-03ED43E5C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5914" y="1387225"/>
            <a:ext cx="1205913" cy="313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912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7E543-840D-249E-2976-7197ABB91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681" y="445025"/>
            <a:ext cx="7839242" cy="5727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Húmero</a:t>
            </a:r>
            <a:r>
              <a:rPr lang="en-US" dirty="0"/>
              <a:t>, </a:t>
            </a:r>
            <a:r>
              <a:rPr lang="en-US" dirty="0" err="1"/>
              <a:t>esfera</a:t>
            </a:r>
            <a:r>
              <a:rPr lang="en-US" dirty="0"/>
              <a:t> y recta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ADFD59-C362-C0FF-B61A-7AC3F222D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291526" cy="3416400"/>
          </a:xfrm>
        </p:spPr>
        <p:txBody>
          <a:bodyPr/>
          <a:lstStyle/>
          <a:p>
            <a:r>
              <a:rPr lang="en-US" dirty="0"/>
              <a:t>la </a:t>
            </a:r>
            <a:r>
              <a:rPr lang="en-US" dirty="0" err="1"/>
              <a:t>esfera</a:t>
            </a:r>
            <a:r>
              <a:rPr lang="en-US" dirty="0"/>
              <a:t> </a:t>
            </a:r>
            <a:r>
              <a:rPr lang="en-US" dirty="0" err="1"/>
              <a:t>aproxima</a:t>
            </a:r>
            <a:r>
              <a:rPr lang="en-US" dirty="0"/>
              <a:t> la </a:t>
            </a:r>
            <a:r>
              <a:rPr lang="en-US" dirty="0" err="1"/>
              <a:t>superficie</a:t>
            </a:r>
            <a:r>
              <a:rPr lang="en-US" dirty="0"/>
              <a:t> articular y la recta </a:t>
            </a:r>
            <a:r>
              <a:rPr lang="en-US" dirty="0" err="1"/>
              <a:t>aproxima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eje</a:t>
            </a:r>
            <a:r>
              <a:rPr lang="en-US" dirty="0"/>
              <a:t> del </a:t>
            </a:r>
            <a:r>
              <a:rPr lang="en-US" dirty="0" err="1"/>
              <a:t>húmero</a:t>
            </a:r>
            <a:endParaRPr lang="en-US" dirty="0"/>
          </a:p>
          <a:p>
            <a:r>
              <a:rPr lang="en-GB" dirty="0" err="1"/>
              <a:t>el</a:t>
            </a:r>
            <a:r>
              <a:rPr lang="en-GB" dirty="0"/>
              <a:t> </a:t>
            </a:r>
            <a:r>
              <a:rPr lang="en-GB" dirty="0" err="1"/>
              <a:t>centro</a:t>
            </a:r>
            <a:r>
              <a:rPr lang="en-GB" dirty="0"/>
              <a:t> de la </a:t>
            </a:r>
            <a:r>
              <a:rPr lang="en-GB" dirty="0" err="1"/>
              <a:t>esfera</a:t>
            </a:r>
            <a:r>
              <a:rPr lang="en-GB" dirty="0"/>
              <a:t> de la cabeza humeral es </a:t>
            </a:r>
            <a:r>
              <a:rPr lang="en-GB" dirty="0" err="1"/>
              <a:t>sustancialmente</a:t>
            </a:r>
            <a:r>
              <a:rPr lang="en-GB" dirty="0"/>
              <a:t> </a:t>
            </a:r>
            <a:r>
              <a:rPr lang="en-GB" dirty="0" err="1"/>
              <a:t>excéntrico</a:t>
            </a:r>
            <a:r>
              <a:rPr lang="en-GB" dirty="0"/>
              <a:t> con </a:t>
            </a:r>
            <a:r>
              <a:rPr lang="en-GB" dirty="0" err="1"/>
              <a:t>respecto</a:t>
            </a:r>
            <a:r>
              <a:rPr lang="en-GB" dirty="0"/>
              <a:t> al </a:t>
            </a:r>
            <a:r>
              <a:rPr lang="en-GB" dirty="0" err="1"/>
              <a:t>eje</a:t>
            </a:r>
            <a:r>
              <a:rPr lang="en-GB" dirty="0"/>
              <a:t> del </a:t>
            </a:r>
            <a:r>
              <a:rPr lang="en-GB" dirty="0" err="1"/>
              <a:t>húmero</a:t>
            </a:r>
            <a:r>
              <a:rPr lang="en-GB" dirty="0"/>
              <a:t>. Esa </a:t>
            </a:r>
            <a:r>
              <a:rPr lang="en-GB" dirty="0" err="1"/>
              <a:t>excentricidad</a:t>
            </a:r>
            <a:r>
              <a:rPr lang="en-GB" dirty="0"/>
              <a:t> es </a:t>
            </a:r>
            <a:r>
              <a:rPr lang="en-GB" dirty="0" err="1"/>
              <a:t>una</a:t>
            </a:r>
            <a:r>
              <a:rPr lang="en-GB" dirty="0"/>
              <a:t> de las </a:t>
            </a:r>
            <a:r>
              <a:rPr lang="en-GB" dirty="0" err="1"/>
              <a:t>características</a:t>
            </a:r>
            <a:r>
              <a:rPr lang="en-GB" dirty="0"/>
              <a:t> </a:t>
            </a:r>
            <a:r>
              <a:rPr lang="en-GB" dirty="0" err="1"/>
              <a:t>geométricas</a:t>
            </a:r>
            <a:r>
              <a:rPr lang="en-GB" dirty="0"/>
              <a:t> clave </a:t>
            </a:r>
            <a:r>
              <a:rPr lang="en-GB" dirty="0" err="1"/>
              <a:t>preservadas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el</a:t>
            </a:r>
            <a:r>
              <a:rPr lang="en-GB" dirty="0"/>
              <a:t> </a:t>
            </a:r>
            <a:r>
              <a:rPr lang="en-GB" dirty="0" err="1"/>
              <a:t>diseño</a:t>
            </a:r>
            <a:r>
              <a:rPr lang="en-GB" dirty="0"/>
              <a:t> de la </a:t>
            </a:r>
            <a:r>
              <a:rPr lang="en-GB" dirty="0" err="1"/>
              <a:t>artroplastia</a:t>
            </a:r>
            <a:r>
              <a:rPr lang="en-GB" dirty="0"/>
              <a:t> </a:t>
            </a:r>
            <a:r>
              <a:rPr lang="en-GB" dirty="0" err="1"/>
              <a:t>anatómica</a:t>
            </a:r>
            <a:r>
              <a:rPr lang="en-GB" dirty="0"/>
              <a:t> de </a:t>
            </a:r>
            <a:r>
              <a:rPr lang="en-GB" dirty="0" err="1"/>
              <a:t>hombro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radio </a:t>
            </a:r>
            <a:r>
              <a:rPr lang="en-GB" dirty="0" err="1"/>
              <a:t>aproximado</a:t>
            </a:r>
            <a:r>
              <a:rPr lang="en-GB" dirty="0"/>
              <a:t>: 24 mm (</a:t>
            </a:r>
            <a:r>
              <a:rPr lang="en-GB" dirty="0" err="1"/>
              <a:t>puede</a:t>
            </a:r>
            <a:r>
              <a:rPr lang="en-GB" dirty="0"/>
              <a:t> </a:t>
            </a:r>
            <a:r>
              <a:rPr lang="en-GB" dirty="0" err="1"/>
              <a:t>variar</a:t>
            </a:r>
            <a:r>
              <a:rPr lang="en-GB" dirty="0"/>
              <a:t>, </a:t>
            </a:r>
            <a:r>
              <a:rPr lang="en-GB" dirty="0" err="1"/>
              <a:t>aprox</a:t>
            </a:r>
            <a:r>
              <a:rPr lang="en-GB" dirty="0"/>
              <a:t>. 10%)</a:t>
            </a:r>
          </a:p>
          <a:p>
            <a:r>
              <a:rPr lang="en-GB" dirty="0" err="1"/>
              <a:t>distancia</a:t>
            </a:r>
            <a:r>
              <a:rPr lang="en-GB" dirty="0"/>
              <a:t> </a:t>
            </a:r>
            <a:r>
              <a:rPr lang="en-GB" dirty="0" err="1"/>
              <a:t>aproximada</a:t>
            </a:r>
            <a:r>
              <a:rPr lang="en-GB" dirty="0"/>
              <a:t> </a:t>
            </a:r>
            <a:r>
              <a:rPr lang="en-GB" dirty="0" err="1"/>
              <a:t>centro</a:t>
            </a:r>
            <a:r>
              <a:rPr lang="en-GB" dirty="0"/>
              <a:t>/</a:t>
            </a:r>
            <a:r>
              <a:rPr lang="en-GB" dirty="0" err="1"/>
              <a:t>eje</a:t>
            </a:r>
            <a:r>
              <a:rPr lang="en-GB" dirty="0"/>
              <a:t>: 9 mm (</a:t>
            </a:r>
            <a:r>
              <a:rPr lang="en-GB" dirty="0" err="1"/>
              <a:t>puede</a:t>
            </a:r>
            <a:r>
              <a:rPr lang="en-GB" dirty="0"/>
              <a:t> </a:t>
            </a:r>
            <a:r>
              <a:rPr lang="en-GB" dirty="0" err="1"/>
              <a:t>variar</a:t>
            </a:r>
            <a:r>
              <a:rPr lang="en-GB" dirty="0"/>
              <a:t>, </a:t>
            </a:r>
            <a:r>
              <a:rPr lang="en-GB" dirty="0" err="1"/>
              <a:t>aprox</a:t>
            </a:r>
            <a:r>
              <a:rPr lang="en-GB" dirty="0"/>
              <a:t>. 20%)</a:t>
            </a:r>
          </a:p>
          <a:p>
            <a:r>
              <a:rPr lang="en-GB" dirty="0" err="1"/>
              <a:t>razón</a:t>
            </a:r>
            <a:r>
              <a:rPr lang="en-GB" dirty="0"/>
              <a:t> </a:t>
            </a:r>
            <a:r>
              <a:rPr lang="en-GB" dirty="0" err="1"/>
              <a:t>aprox</a:t>
            </a:r>
            <a:r>
              <a:rPr lang="en-GB" dirty="0"/>
              <a:t>: 0.4 – </a:t>
            </a:r>
            <a:r>
              <a:rPr lang="en-GB" dirty="0" err="1"/>
              <a:t>pero</a:t>
            </a:r>
            <a:r>
              <a:rPr lang="en-GB" dirty="0"/>
              <a:t> </a:t>
            </a:r>
            <a:r>
              <a:rPr lang="en-GB" dirty="0" err="1"/>
              <a:t>puede</a:t>
            </a:r>
            <a:r>
              <a:rPr lang="en-GB" dirty="0"/>
              <a:t> </a:t>
            </a:r>
            <a:r>
              <a:rPr lang="en-GB" dirty="0" err="1"/>
              <a:t>variar</a:t>
            </a:r>
            <a:r>
              <a:rPr lang="en-GB" dirty="0"/>
              <a:t> .....</a:t>
            </a:r>
          </a:p>
          <a:p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107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2F811-DE96-CBBF-16C9-8F2B7BA06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053DD-A2B5-010D-4AF2-A58303A85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681" y="445025"/>
            <a:ext cx="5707582" cy="5727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Húmero</a:t>
            </a:r>
            <a:r>
              <a:rPr lang="en-US" dirty="0"/>
              <a:t>, </a:t>
            </a:r>
            <a:r>
              <a:rPr lang="en-US" dirty="0" err="1"/>
              <a:t>esfera</a:t>
            </a:r>
            <a:r>
              <a:rPr lang="en-US" dirty="0"/>
              <a:t> y recta – un </a:t>
            </a:r>
            <a:r>
              <a:rPr lang="en-US" dirty="0" err="1"/>
              <a:t>ejemplo</a:t>
            </a:r>
            <a:r>
              <a:rPr lang="en-US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4F8A48-A334-1D9C-2071-25C801C26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35" y="1346901"/>
            <a:ext cx="1376144" cy="30675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3BD37F5-F882-FBF1-3730-E40A147FD56B}"/>
              </a:ext>
            </a:extLst>
          </p:cNvPr>
          <p:cNvSpPr txBox="1"/>
          <p:nvPr/>
        </p:nvSpPr>
        <p:spPr>
          <a:xfrm>
            <a:off x="587535" y="4414451"/>
            <a:ext cx="12378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humero</a:t>
            </a:r>
            <a:r>
              <a:rPr lang="en-GB" dirty="0"/>
              <a:t>(1).</a:t>
            </a:r>
            <a:r>
              <a:rPr lang="en-GB" dirty="0" err="1"/>
              <a:t>stl</a:t>
            </a:r>
            <a:endParaRPr lang="en-GB" dirty="0"/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9B67AC-58FB-350C-DA0C-F741DD338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891" y="1086029"/>
            <a:ext cx="3643940" cy="9670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F7141D4-D585-1D19-13E1-11796920E0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2194" y="1840804"/>
            <a:ext cx="1282242" cy="274636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0B48BEE-B8D7-809F-0479-BC75355B97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5978" y="3921544"/>
            <a:ext cx="3956216" cy="9670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78B04A7-3717-F9D4-ADF7-BC7C1B28F60B}"/>
              </a:ext>
            </a:extLst>
          </p:cNvPr>
          <p:cNvSpPr txBox="1"/>
          <p:nvPr/>
        </p:nvSpPr>
        <p:spPr>
          <a:xfrm>
            <a:off x="6388187" y="1419729"/>
            <a:ext cx="2635497" cy="262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54"/>
              </a:lnSpc>
              <a:buNone/>
            </a:pPr>
            <a:r>
              <a:rPr lang="en-GB" b="0" i="0" dirty="0">
                <a:effectLst/>
                <a:latin typeface="+mj-lt"/>
              </a:rPr>
              <a:t>Right_humerus_Cut_2_top.stl</a:t>
            </a:r>
          </a:p>
        </p:txBody>
      </p:sp>
    </p:spTree>
    <p:extLst>
      <p:ext uri="{BB962C8B-B14F-4D97-AF65-F5344CB8AC3E}">
        <p14:creationId xmlns:p14="http://schemas.microsoft.com/office/powerpoint/2010/main" val="11386087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5DBFB-59C3-E791-9AD4-3F89BB7C1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Un </a:t>
            </a:r>
            <a:r>
              <a:rPr lang="en-US" dirty="0" err="1"/>
              <a:t>húmero</a:t>
            </a:r>
            <a:r>
              <a:rPr lang="en-US" dirty="0"/>
              <a:t> y el </a:t>
            </a:r>
            <a:r>
              <a:rPr lang="en-US" dirty="0" err="1"/>
              <a:t>otro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58CD81-A2D4-75CC-19BE-56F18AA97E49}"/>
              </a:ext>
            </a:extLst>
          </p:cNvPr>
          <p:cNvSpPr txBox="1"/>
          <p:nvPr/>
        </p:nvSpPr>
        <p:spPr>
          <a:xfrm>
            <a:off x="782596" y="1017725"/>
            <a:ext cx="844581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Asociamos</a:t>
            </a:r>
            <a:r>
              <a:rPr lang="en-US" dirty="0"/>
              <a:t> al </a:t>
            </a:r>
            <a:r>
              <a:rPr lang="en-US" dirty="0" err="1"/>
              <a:t>húmero</a:t>
            </a:r>
            <a:r>
              <a:rPr lang="en-US" dirty="0"/>
              <a:t>: </a:t>
            </a:r>
            <a:r>
              <a:rPr lang="en-US" dirty="0" err="1"/>
              <a:t>esfera</a:t>
            </a:r>
            <a:r>
              <a:rPr lang="en-US" dirty="0"/>
              <a:t> y recta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Dados dos </a:t>
            </a:r>
            <a:r>
              <a:rPr lang="en-US" dirty="0" err="1"/>
              <a:t>húmeros</a:t>
            </a:r>
            <a:r>
              <a:rPr lang="en-US" dirty="0"/>
              <a:t>: </a:t>
            </a:r>
            <a:r>
              <a:rPr lang="en-US" dirty="0" err="1"/>
              <a:t>esfera</a:t>
            </a:r>
            <a:r>
              <a:rPr lang="en-US" dirty="0"/>
              <a:t> </a:t>
            </a:r>
            <a:r>
              <a:rPr lang="en-US" dirty="0" err="1"/>
              <a:t>aproximante</a:t>
            </a:r>
            <a:r>
              <a:rPr lang="en-US" dirty="0"/>
              <a:t> al area articular y el </a:t>
            </a:r>
            <a:r>
              <a:rPr lang="en-US" dirty="0" err="1"/>
              <a:t>eje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</a:t>
            </a:r>
          </a:p>
          <a:p>
            <a:endParaRPr lang="en-US" dirty="0"/>
          </a:p>
          <a:p>
            <a:r>
              <a:rPr lang="en-US" dirty="0"/>
              <a:t>     </a:t>
            </a:r>
            <a:endParaRPr lang="en-US" dirty="0">
              <a:solidFill>
                <a:schemeClr val="accent1"/>
              </a:solidFill>
            </a:endParaRPr>
          </a:p>
          <a:p>
            <a:r>
              <a:rPr lang="en-US" dirty="0" err="1">
                <a:solidFill>
                  <a:schemeClr val="accent1"/>
                </a:solidFill>
              </a:rPr>
              <a:t>queremos</a:t>
            </a:r>
            <a:r>
              <a:rPr lang="en-US" dirty="0"/>
              <a:t> encontrar </a:t>
            </a:r>
            <a:r>
              <a:rPr lang="en-US" dirty="0" err="1"/>
              <a:t>transformación</a:t>
            </a:r>
            <a:r>
              <a:rPr lang="en-US" dirty="0"/>
              <a:t> de 3D, T(x) = (</a:t>
            </a:r>
            <a:r>
              <a:rPr lang="en-US" dirty="0" err="1"/>
              <a:t>sR</a:t>
            </a:r>
            <a:r>
              <a:rPr lang="en-US" dirty="0"/>
              <a:t>)x + b, s = </a:t>
            </a:r>
            <a:r>
              <a:rPr lang="en-US" dirty="0" err="1"/>
              <a:t>dilatacion</a:t>
            </a:r>
            <a:r>
              <a:rPr lang="en-US" dirty="0"/>
              <a:t>,</a:t>
            </a:r>
          </a:p>
          <a:p>
            <a:r>
              <a:rPr lang="en-US" dirty="0"/>
              <a:t>R = </a:t>
            </a:r>
            <a:r>
              <a:rPr lang="en-US" dirty="0" err="1"/>
              <a:t>rotación</a:t>
            </a:r>
            <a:r>
              <a:rPr lang="en-US" dirty="0"/>
              <a:t>,  b = </a:t>
            </a:r>
            <a:r>
              <a:rPr lang="en-US" dirty="0" err="1"/>
              <a:t>desplazamiento</a:t>
            </a:r>
            <a:r>
              <a:rPr lang="en-US" dirty="0"/>
              <a:t>,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envia</a:t>
            </a:r>
            <a:r>
              <a:rPr lang="en-US" dirty="0"/>
              <a:t> un par </a:t>
            </a:r>
            <a:r>
              <a:rPr lang="en-US" dirty="0" err="1"/>
              <a:t>esfera</a:t>
            </a:r>
            <a:r>
              <a:rPr lang="en-US" dirty="0"/>
              <a:t>/</a:t>
            </a:r>
            <a:r>
              <a:rPr lang="en-US" dirty="0" err="1"/>
              <a:t>eje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el </a:t>
            </a:r>
            <a:r>
              <a:rPr lang="en-US" dirty="0" err="1"/>
              <a:t>otro</a:t>
            </a:r>
            <a:r>
              <a:rPr lang="en-US" dirty="0"/>
              <a:t>.  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Pendiente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: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mejorar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humerus_analysis.m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para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que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calcule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mejor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el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eje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68F754-A03E-C055-00DA-3251103BA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3076" y="1305697"/>
            <a:ext cx="322253" cy="9576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83D911-01EC-3B67-5136-6687D7840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793" y="1630783"/>
            <a:ext cx="3551464" cy="8776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8D24B7-AE30-4798-8D65-EC3C14B70CA6}"/>
              </a:ext>
            </a:extLst>
          </p:cNvPr>
          <p:cNvSpPr txBox="1"/>
          <p:nvPr/>
        </p:nvSpPr>
        <p:spPr>
          <a:xfrm>
            <a:off x="7214888" y="1981041"/>
            <a:ext cx="11465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+mj-lt"/>
              </a:rPr>
              <a:t>HumeroFinal1.stl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07D4C9-0BF9-612E-9039-39D31B203D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3076" y="2494365"/>
            <a:ext cx="830062" cy="17591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A07080-01DB-9B79-A586-1A254DEADE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4350" y="2944878"/>
            <a:ext cx="3760275" cy="8580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028793E-B1D5-BDEB-D22B-F185EE835E35}"/>
              </a:ext>
            </a:extLst>
          </p:cNvPr>
          <p:cNvSpPr txBox="1"/>
          <p:nvPr/>
        </p:nvSpPr>
        <p:spPr>
          <a:xfrm>
            <a:off x="7480776" y="3760482"/>
            <a:ext cx="11465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+mj-lt"/>
              </a:rPr>
              <a:t>Humerus </a:t>
            </a:r>
            <a:r>
              <a:rPr lang="en-US" sz="800" dirty="0" err="1">
                <a:latin typeface="+mj-lt"/>
              </a:rPr>
              <a:t>Left.stl</a:t>
            </a:r>
            <a:endParaRPr lang="en-US" sz="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40847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E0962-3BAB-D49F-E35D-FEEAF0DDE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BC36B-A953-0247-4E43-CD235C4C4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Esfera</a:t>
            </a:r>
            <a:r>
              <a:rPr lang="en-US" dirty="0"/>
              <a:t> y recta </a:t>
            </a:r>
            <a:r>
              <a:rPr lang="en-US" dirty="0" err="1"/>
              <a:t>asociada</a:t>
            </a:r>
            <a:r>
              <a:rPr lang="en-US" dirty="0"/>
              <a:t> a un </a:t>
            </a:r>
            <a:r>
              <a:rPr lang="en-US" dirty="0" err="1"/>
              <a:t>húmero</a:t>
            </a:r>
            <a:r>
              <a:rPr lang="en-US" dirty="0"/>
              <a:t> y al </a:t>
            </a:r>
            <a:r>
              <a:rPr lang="en-US" dirty="0" err="1"/>
              <a:t>otro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1DFF03-B376-95D9-D5F1-8DAD650F6779}"/>
              </a:ext>
            </a:extLst>
          </p:cNvPr>
          <p:cNvSpPr txBox="1"/>
          <p:nvPr/>
        </p:nvSpPr>
        <p:spPr>
          <a:xfrm>
            <a:off x="782596" y="1017725"/>
            <a:ext cx="765802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1"/>
                </a:solidFill>
              </a:rPr>
              <a:t>Queremos</a:t>
            </a:r>
            <a:r>
              <a:rPr lang="en-US" dirty="0"/>
              <a:t> encontrar </a:t>
            </a:r>
            <a:r>
              <a:rPr lang="en-US" dirty="0" err="1"/>
              <a:t>transformación</a:t>
            </a:r>
            <a:r>
              <a:rPr lang="en-US" dirty="0"/>
              <a:t> de 3D, T(x) = (</a:t>
            </a:r>
            <a:r>
              <a:rPr lang="en-US" dirty="0" err="1"/>
              <a:t>sR</a:t>
            </a:r>
            <a:r>
              <a:rPr lang="en-US" dirty="0"/>
              <a:t>)x + b,    s = </a:t>
            </a:r>
            <a:r>
              <a:rPr lang="en-US" dirty="0" err="1"/>
              <a:t>dilatacion</a:t>
            </a:r>
            <a:r>
              <a:rPr lang="en-US" dirty="0"/>
              <a:t>, R = </a:t>
            </a:r>
            <a:r>
              <a:rPr lang="en-US" dirty="0" err="1"/>
              <a:t>rotación</a:t>
            </a:r>
            <a:r>
              <a:rPr lang="en-US" dirty="0"/>
              <a:t>,  </a:t>
            </a:r>
          </a:p>
          <a:p>
            <a:r>
              <a:rPr lang="en-US" dirty="0"/>
              <a:t>b = </a:t>
            </a:r>
            <a:r>
              <a:rPr lang="en-US" dirty="0" err="1"/>
              <a:t>desplazamiento</a:t>
            </a:r>
            <a:r>
              <a:rPr lang="en-US" dirty="0"/>
              <a:t>,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envia</a:t>
            </a:r>
            <a:r>
              <a:rPr lang="en-US" dirty="0"/>
              <a:t> un par </a:t>
            </a:r>
            <a:r>
              <a:rPr lang="en-US" dirty="0" err="1"/>
              <a:t>esfera</a:t>
            </a:r>
            <a:r>
              <a:rPr lang="en-US" dirty="0"/>
              <a:t>/</a:t>
            </a:r>
            <a:r>
              <a:rPr lang="en-US" dirty="0" err="1"/>
              <a:t>eje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el </a:t>
            </a:r>
            <a:r>
              <a:rPr lang="en-US" b="1" dirty="0" err="1"/>
              <a:t>otro</a:t>
            </a:r>
            <a:r>
              <a:rPr lang="en-US" dirty="0"/>
              <a:t> par </a:t>
            </a:r>
            <a:r>
              <a:rPr lang="en-US" dirty="0" err="1"/>
              <a:t>esfera</a:t>
            </a:r>
            <a:r>
              <a:rPr lang="en-US" dirty="0"/>
              <a:t>/</a:t>
            </a:r>
            <a:r>
              <a:rPr lang="en-US" dirty="0" err="1"/>
              <a:t>eje</a:t>
            </a:r>
            <a:br>
              <a:rPr lang="en-GB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podemos</a:t>
            </a:r>
            <a:r>
              <a:rPr lang="en-US" dirty="0"/>
              <a:t> </a:t>
            </a:r>
            <a:r>
              <a:rPr lang="en-US" dirty="0" err="1"/>
              <a:t>dilatar</a:t>
            </a:r>
            <a:r>
              <a:rPr lang="en-US" dirty="0"/>
              <a:t> (</a:t>
            </a:r>
            <a:r>
              <a:rPr lang="en-US" dirty="0" err="1"/>
              <a:t>escoger</a:t>
            </a:r>
            <a:r>
              <a:rPr lang="en-US" dirty="0"/>
              <a:t> s) y </a:t>
            </a:r>
            <a:r>
              <a:rPr lang="en-US" dirty="0" err="1"/>
              <a:t>desplazar</a:t>
            </a:r>
            <a:r>
              <a:rPr lang="en-US" dirty="0"/>
              <a:t> (</a:t>
            </a:r>
            <a:r>
              <a:rPr lang="en-US" dirty="0" err="1"/>
              <a:t>escoger</a:t>
            </a:r>
            <a:r>
              <a:rPr lang="en-US" dirty="0"/>
              <a:t> b) para </a:t>
            </a:r>
            <a:r>
              <a:rPr lang="en-US" dirty="0" err="1"/>
              <a:t>llevar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esfera</a:t>
            </a:r>
            <a:r>
              <a:rPr lang="en-US" dirty="0"/>
              <a:t> a la </a:t>
            </a:r>
            <a:r>
              <a:rPr lang="en-US" dirty="0" err="1"/>
              <a:t>otra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podemos</a:t>
            </a:r>
            <a:r>
              <a:rPr lang="en-US" dirty="0"/>
              <a:t> </a:t>
            </a:r>
            <a:r>
              <a:rPr lang="en-US" dirty="0" err="1"/>
              <a:t>rotar</a:t>
            </a:r>
            <a:r>
              <a:rPr lang="en-US" dirty="0"/>
              <a:t> (</a:t>
            </a:r>
            <a:r>
              <a:rPr lang="en-US" dirty="0" err="1"/>
              <a:t>escoger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matriz</a:t>
            </a:r>
            <a:r>
              <a:rPr lang="en-US" dirty="0"/>
              <a:t> R de </a:t>
            </a:r>
            <a:r>
              <a:rPr lang="en-US" dirty="0" err="1"/>
              <a:t>tamaño</a:t>
            </a:r>
            <a:r>
              <a:rPr lang="en-US" dirty="0"/>
              <a:t> 3x3) </a:t>
            </a:r>
            <a:r>
              <a:rPr lang="en-US" dirty="0" err="1"/>
              <a:t>respecto</a:t>
            </a:r>
            <a:r>
              <a:rPr lang="en-US" dirty="0"/>
              <a:t> al </a:t>
            </a:r>
            <a:r>
              <a:rPr lang="en-US" dirty="0" err="1"/>
              <a:t>centro</a:t>
            </a:r>
            <a:r>
              <a:rPr lang="en-US" dirty="0"/>
              <a:t> de la </a:t>
            </a:r>
            <a:r>
              <a:rPr lang="en-US" dirty="0" err="1"/>
              <a:t>esfera</a:t>
            </a:r>
            <a:r>
              <a:rPr lang="en-US" dirty="0"/>
              <a:t> </a:t>
            </a:r>
            <a:r>
              <a:rPr lang="en-US" dirty="0" err="1"/>
              <a:t>transformada</a:t>
            </a:r>
            <a:r>
              <a:rPr lang="en-US" dirty="0"/>
              <a:t> para </a:t>
            </a:r>
            <a:r>
              <a:rPr lang="en-US" dirty="0" err="1">
                <a:solidFill>
                  <a:schemeClr val="accent1"/>
                </a:solidFill>
              </a:rPr>
              <a:t>tratar</a:t>
            </a:r>
            <a:r>
              <a:rPr lang="en-US" dirty="0">
                <a:solidFill>
                  <a:schemeClr val="accent1"/>
                </a:solidFill>
              </a:rPr>
              <a:t> de </a:t>
            </a:r>
            <a:r>
              <a:rPr lang="en-US" dirty="0" err="1">
                <a:solidFill>
                  <a:schemeClr val="accent1"/>
                </a:solidFill>
              </a:rPr>
              <a:t>enviar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un </a:t>
            </a:r>
            <a:r>
              <a:rPr lang="en-US" dirty="0" err="1"/>
              <a:t>eje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el </a:t>
            </a:r>
            <a:r>
              <a:rPr lang="en-US" dirty="0" err="1"/>
              <a:t>otro</a:t>
            </a:r>
            <a:endParaRPr lang="en-US" dirty="0"/>
          </a:p>
          <a:p>
            <a:endParaRPr lang="en-US" dirty="0"/>
          </a:p>
          <a:p>
            <a:r>
              <a:rPr lang="en-US" dirty="0" err="1">
                <a:solidFill>
                  <a:schemeClr val="accent1"/>
                </a:solidFill>
              </a:rPr>
              <a:t>Ejercicio</a:t>
            </a:r>
            <a:r>
              <a:rPr lang="en-US" dirty="0"/>
              <a:t>: </a:t>
            </a:r>
            <a:r>
              <a:rPr lang="en-US" dirty="0" err="1"/>
              <a:t>recuerde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las </a:t>
            </a:r>
            <a:r>
              <a:rPr lang="en-US" dirty="0" err="1"/>
              <a:t>dilataciones</a:t>
            </a:r>
            <a:r>
              <a:rPr lang="en-US" dirty="0"/>
              <a:t>, </a:t>
            </a:r>
            <a:r>
              <a:rPr lang="en-US" dirty="0" err="1"/>
              <a:t>traslaciones</a:t>
            </a:r>
            <a:r>
              <a:rPr lang="en-US" dirty="0"/>
              <a:t> y </a:t>
            </a:r>
            <a:r>
              <a:rPr lang="en-US" dirty="0" err="1"/>
              <a:t>rotaciones</a:t>
            </a:r>
            <a:r>
              <a:rPr lang="en-US" dirty="0"/>
              <a:t> </a:t>
            </a:r>
            <a:r>
              <a:rPr lang="en-US" dirty="0" err="1"/>
              <a:t>mandan</a:t>
            </a:r>
            <a:r>
              <a:rPr lang="en-US" dirty="0"/>
              <a:t> </a:t>
            </a:r>
            <a:r>
              <a:rPr lang="en-US" dirty="0" err="1"/>
              <a:t>rectas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3D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rectas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3D, y también </a:t>
            </a:r>
            <a:r>
              <a:rPr lang="en-US" dirty="0" err="1"/>
              <a:t>mandan</a:t>
            </a:r>
            <a:r>
              <a:rPr lang="en-US" dirty="0"/>
              <a:t> </a:t>
            </a:r>
            <a:r>
              <a:rPr lang="en-US" dirty="0" err="1"/>
              <a:t>esferas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esferas</a:t>
            </a:r>
            <a:r>
              <a:rPr lang="en-US" dirty="0"/>
              <a:t>. La </a:t>
            </a:r>
            <a:r>
              <a:rPr lang="en-US" dirty="0" err="1"/>
              <a:t>rotacion</a:t>
            </a:r>
            <a:r>
              <a:rPr lang="en-US" dirty="0"/>
              <a:t> con </a:t>
            </a:r>
            <a:r>
              <a:rPr lang="en-US" dirty="0" err="1"/>
              <a:t>respecto</a:t>
            </a:r>
            <a:r>
              <a:rPr lang="en-US" dirty="0"/>
              <a:t> a un punto </a:t>
            </a:r>
            <a:r>
              <a:rPr lang="en-US" dirty="0" err="1"/>
              <a:t>diferente</a:t>
            </a:r>
            <a:r>
              <a:rPr lang="en-US" dirty="0"/>
              <a:t> del </a:t>
            </a:r>
            <a:r>
              <a:rPr lang="en-US" dirty="0" err="1"/>
              <a:t>origen</a:t>
            </a:r>
            <a:r>
              <a:rPr lang="en-US" dirty="0"/>
              <a:t> es la </a:t>
            </a:r>
            <a:r>
              <a:rPr lang="en-US" dirty="0" err="1"/>
              <a:t>composicion</a:t>
            </a:r>
            <a:r>
              <a:rPr lang="en-US" dirty="0"/>
              <a:t> de un </a:t>
            </a:r>
            <a:r>
              <a:rPr lang="en-US" dirty="0" err="1"/>
              <a:t>desplazamiento</a:t>
            </a:r>
            <a:r>
              <a:rPr lang="en-US" dirty="0"/>
              <a:t>,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rotación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el </a:t>
            </a:r>
            <a:r>
              <a:rPr lang="en-US" dirty="0" err="1"/>
              <a:t>origen</a:t>
            </a:r>
            <a:r>
              <a:rPr lang="en-US" dirty="0"/>
              <a:t> y el </a:t>
            </a:r>
            <a:r>
              <a:rPr lang="en-US" dirty="0" err="1"/>
              <a:t>desplazamiento</a:t>
            </a:r>
            <a:r>
              <a:rPr lang="en-US" dirty="0"/>
              <a:t> </a:t>
            </a:r>
            <a:r>
              <a:rPr lang="en-US" dirty="0" err="1"/>
              <a:t>opuesto</a:t>
            </a:r>
            <a:r>
              <a:rPr lang="en-US" dirty="0"/>
              <a:t>. </a:t>
            </a:r>
          </a:p>
          <a:p>
            <a:r>
              <a:rPr lang="en-US" dirty="0"/>
              <a:t>Dados dos pares </a:t>
            </a:r>
            <a:r>
              <a:rPr lang="en-US" dirty="0" err="1"/>
              <a:t>esfera</a:t>
            </a:r>
            <a:r>
              <a:rPr lang="en-US" dirty="0"/>
              <a:t>/recta: S</a:t>
            </a:r>
            <a:r>
              <a:rPr lang="en-US" baseline="-25000" dirty="0"/>
              <a:t>1 </a:t>
            </a:r>
            <a:r>
              <a:rPr lang="en-US" dirty="0"/>
              <a:t>/R</a:t>
            </a:r>
            <a:r>
              <a:rPr lang="en-US" baseline="-25000" dirty="0"/>
              <a:t>1</a:t>
            </a:r>
            <a:r>
              <a:rPr lang="en-US" dirty="0"/>
              <a:t> y S</a:t>
            </a:r>
            <a:r>
              <a:rPr lang="en-US" baseline="-25000" dirty="0"/>
              <a:t>2 </a:t>
            </a:r>
            <a:r>
              <a:rPr lang="en-US" dirty="0"/>
              <a:t>/R</a:t>
            </a:r>
            <a:r>
              <a:rPr lang="en-US" baseline="-25000" dirty="0"/>
              <a:t>2</a:t>
            </a:r>
            <a:r>
              <a:rPr lang="en-US" dirty="0"/>
              <a:t>, </a:t>
            </a:r>
            <a:r>
              <a:rPr lang="en-US" dirty="0" err="1"/>
              <a:t>verifique</a:t>
            </a:r>
            <a:r>
              <a:rPr lang="en-US" dirty="0"/>
              <a:t> (</a:t>
            </a:r>
            <a:r>
              <a:rPr lang="en-US" dirty="0" err="1"/>
              <a:t>prueba</a:t>
            </a:r>
            <a:r>
              <a:rPr lang="en-US" dirty="0"/>
              <a:t> </a:t>
            </a:r>
            <a:r>
              <a:rPr lang="en-US" dirty="0" err="1"/>
              <a:t>matemática</a:t>
            </a:r>
            <a:r>
              <a:rPr lang="en-US" dirty="0"/>
              <a:t> o un script)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siempre</a:t>
            </a:r>
            <a:r>
              <a:rPr lang="en-US" dirty="0"/>
              <a:t> se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construir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transformación</a:t>
            </a:r>
            <a:r>
              <a:rPr lang="en-US" dirty="0"/>
              <a:t> T, dada </a:t>
            </a:r>
            <a:r>
              <a:rPr lang="en-US" dirty="0" err="1"/>
              <a:t>por</a:t>
            </a:r>
            <a:r>
              <a:rPr lang="en-US" dirty="0"/>
              <a:t>    T(x) = (</a:t>
            </a:r>
            <a:r>
              <a:rPr lang="en-US" dirty="0" err="1"/>
              <a:t>sR</a:t>
            </a:r>
            <a:r>
              <a:rPr lang="en-US" dirty="0"/>
              <a:t>)x + b,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envía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esfera</a:t>
            </a:r>
            <a:r>
              <a:rPr lang="en-US" dirty="0"/>
              <a:t>, </a:t>
            </a:r>
            <a:r>
              <a:rPr lang="en-US" dirty="0" err="1"/>
              <a:t>digamos</a:t>
            </a:r>
            <a:r>
              <a:rPr lang="en-US" dirty="0"/>
              <a:t> S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otra</a:t>
            </a:r>
            <a:r>
              <a:rPr lang="en-US" dirty="0"/>
              <a:t> S</a:t>
            </a:r>
            <a:r>
              <a:rPr lang="en-US" baseline="-25000" dirty="0"/>
              <a:t>2</a:t>
            </a:r>
            <a:r>
              <a:rPr lang="en-US" dirty="0"/>
              <a:t> y </a:t>
            </a:r>
            <a:r>
              <a:rPr lang="en-US" dirty="0" err="1"/>
              <a:t>que</a:t>
            </a:r>
            <a:r>
              <a:rPr lang="en-US" dirty="0"/>
              <a:t> también </a:t>
            </a:r>
            <a:r>
              <a:rPr lang="en-US" dirty="0" err="1"/>
              <a:t>envia</a:t>
            </a:r>
            <a:r>
              <a:rPr lang="en-US" dirty="0"/>
              <a:t> un </a:t>
            </a:r>
            <a:r>
              <a:rPr lang="en-US" dirty="0" err="1"/>
              <a:t>eje</a:t>
            </a:r>
            <a:r>
              <a:rPr lang="en-US" dirty="0"/>
              <a:t> R</a:t>
            </a:r>
            <a:r>
              <a:rPr lang="en-US" baseline="-25000" dirty="0"/>
              <a:t>1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recta </a:t>
            </a:r>
            <a:r>
              <a:rPr lang="en-US" dirty="0" err="1">
                <a:solidFill>
                  <a:srgbClr val="C00000"/>
                </a:solidFill>
              </a:rPr>
              <a:t>paralela</a:t>
            </a:r>
            <a:r>
              <a:rPr lang="en-US" dirty="0"/>
              <a:t> a R</a:t>
            </a:r>
            <a:r>
              <a:rPr lang="en-US" baseline="-25000" dirty="0"/>
              <a:t>2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>
                <a:solidFill>
                  <a:schemeClr val="accent1"/>
                </a:solidFill>
              </a:rPr>
              <a:t>Ejercicio</a:t>
            </a:r>
            <a:r>
              <a:rPr lang="en-US" dirty="0"/>
              <a:t>: </a:t>
            </a:r>
            <a:r>
              <a:rPr lang="en-US" dirty="0" err="1"/>
              <a:t>Sugiera</a:t>
            </a:r>
            <a:r>
              <a:rPr lang="en-US" dirty="0"/>
              <a:t> </a:t>
            </a:r>
            <a:r>
              <a:rPr lang="en-US" dirty="0" err="1"/>
              <a:t>razones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no es </a:t>
            </a:r>
            <a:r>
              <a:rPr lang="en-US" dirty="0" err="1"/>
              <a:t>posible</a:t>
            </a:r>
            <a:r>
              <a:rPr lang="en-US" dirty="0"/>
              <a:t> </a:t>
            </a:r>
            <a:r>
              <a:rPr lang="en-US" dirty="0" err="1"/>
              <a:t>hacer</a:t>
            </a:r>
            <a:r>
              <a:rPr lang="en-US" dirty="0"/>
              <a:t> </a:t>
            </a:r>
            <a:r>
              <a:rPr lang="en-US" dirty="0" err="1"/>
              <a:t>coincidir</a:t>
            </a:r>
            <a:r>
              <a:rPr lang="en-US" dirty="0"/>
              <a:t> el </a:t>
            </a:r>
            <a:r>
              <a:rPr lang="en-US" dirty="0" err="1"/>
              <a:t>transformado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T de R</a:t>
            </a:r>
            <a:r>
              <a:rPr lang="en-US" baseline="-25000" dirty="0"/>
              <a:t>1</a:t>
            </a:r>
            <a:r>
              <a:rPr lang="en-US" dirty="0"/>
              <a:t> con R</a:t>
            </a:r>
            <a:r>
              <a:rPr lang="en-US" baseline="-25000" dirty="0"/>
              <a:t>2</a:t>
            </a:r>
            <a:r>
              <a:rPr lang="en-US" dirty="0"/>
              <a:t>. </a:t>
            </a:r>
            <a:r>
              <a:rPr lang="en-US" dirty="0" err="1"/>
              <a:t>Sugerencia</a:t>
            </a:r>
            <a:r>
              <a:rPr lang="en-US" dirty="0"/>
              <a:t>: T </a:t>
            </a:r>
            <a:r>
              <a:rPr lang="en-US" dirty="0" err="1"/>
              <a:t>preserva</a:t>
            </a:r>
            <a:r>
              <a:rPr lang="en-US" dirty="0"/>
              <a:t>  </a:t>
            </a:r>
            <a:r>
              <a:rPr lang="en-US" dirty="0" err="1"/>
              <a:t>razones</a:t>
            </a:r>
            <a:r>
              <a:rPr lang="en-US" dirty="0"/>
              <a:t> de </a:t>
            </a:r>
            <a:r>
              <a:rPr lang="en-US" dirty="0" err="1"/>
              <a:t>distancias</a:t>
            </a:r>
            <a:r>
              <a:rPr lang="en-US" dirty="0"/>
              <a:t>/longitudes.</a:t>
            </a:r>
          </a:p>
        </p:txBody>
      </p:sp>
    </p:spTree>
    <p:extLst>
      <p:ext uri="{BB962C8B-B14F-4D97-AF65-F5344CB8AC3E}">
        <p14:creationId xmlns:p14="http://schemas.microsoft.com/office/powerpoint/2010/main" val="14154943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A67A9-4504-2CB0-D96D-4E77DE08A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A6133-B864-F015-26B5-0DF0D3A3E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Rectas</a:t>
            </a:r>
            <a:r>
              <a:rPr lang="en-US" dirty="0"/>
              <a:t> </a:t>
            </a:r>
            <a:r>
              <a:rPr lang="en-US" dirty="0" err="1"/>
              <a:t>paralelas</a:t>
            </a:r>
            <a:r>
              <a:rPr lang="en-US" dirty="0"/>
              <a:t> y </a:t>
            </a:r>
            <a:r>
              <a:rPr lang="en-US" dirty="0" err="1"/>
              <a:t>coplanares</a:t>
            </a:r>
            <a:r>
              <a:rPr lang="en-US" dirty="0"/>
              <a:t> con el </a:t>
            </a:r>
            <a:r>
              <a:rPr lang="en-US" dirty="0" err="1"/>
              <a:t>centro</a:t>
            </a:r>
            <a:r>
              <a:rPr lang="en-US" dirty="0"/>
              <a:t> de la </a:t>
            </a:r>
            <a:r>
              <a:rPr lang="en-US" dirty="0" err="1"/>
              <a:t>esfera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18946C-EF5F-0EDF-1000-413B1DF0CA78}"/>
              </a:ext>
            </a:extLst>
          </p:cNvPr>
          <p:cNvSpPr txBox="1"/>
          <p:nvPr/>
        </p:nvSpPr>
        <p:spPr>
          <a:xfrm>
            <a:off x="722056" y="1041175"/>
            <a:ext cx="414385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Para resolver el </a:t>
            </a:r>
            <a:r>
              <a:rPr lang="en-GB" dirty="0" err="1">
                <a:solidFill>
                  <a:schemeClr val="tx1"/>
                </a:solidFill>
              </a:rPr>
              <a:t>problema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(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</a:rPr>
              <a:t>ya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</a:rPr>
              <a:t>sabemos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 usar R, s y b,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</a:rPr>
              <a:t>en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T(x) = (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sR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)x + b, para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llevar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la recta R</a:t>
            </a:r>
            <a:r>
              <a:rPr lang="en-US" baseline="-25000" dirty="0">
                <a:solidFill>
                  <a:schemeClr val="bg1">
                    <a:lumMod val="75000"/>
                  </a:schemeClr>
                </a:solidFill>
              </a:rPr>
              <a:t>1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a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una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recta R</a:t>
            </a:r>
            <a:r>
              <a:rPr lang="en-US" baseline="-25000" dirty="0">
                <a:solidFill>
                  <a:schemeClr val="bg1">
                    <a:lumMod val="75000"/>
                  </a:schemeClr>
                </a:solidFill>
              </a:rPr>
              <a:t>I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paralela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a R</a:t>
            </a:r>
            <a:r>
              <a:rPr lang="en-US" baseline="-25000" dirty="0">
                <a:solidFill>
                  <a:schemeClr val="bg1">
                    <a:lumMod val="75000"/>
                  </a:schemeClr>
                </a:solidFill>
              </a:rPr>
              <a:t>2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) </a:t>
            </a:r>
            <a:r>
              <a:rPr lang="en-GB" dirty="0" err="1">
                <a:solidFill>
                  <a:schemeClr val="tx1"/>
                </a:solidFill>
              </a:rPr>
              <a:t>debemos</a:t>
            </a:r>
            <a:r>
              <a:rPr lang="en-GB" dirty="0">
                <a:solidFill>
                  <a:schemeClr val="tx1"/>
                </a:solidFill>
              </a:rPr>
              <a:t> encontrar un boost </a:t>
            </a:r>
            <a:r>
              <a:rPr lang="en-GB" dirty="0" err="1">
                <a:solidFill>
                  <a:schemeClr val="tx1"/>
                </a:solidFill>
              </a:rPr>
              <a:t>que</a:t>
            </a:r>
            <a:r>
              <a:rPr lang="en-GB" dirty="0">
                <a:solidFill>
                  <a:schemeClr val="tx1"/>
                </a:solidFill>
              </a:rPr>
              <a:t> preserve la </a:t>
            </a:r>
            <a:r>
              <a:rPr lang="en-GB" dirty="0" err="1">
                <a:solidFill>
                  <a:schemeClr val="tx1"/>
                </a:solidFill>
              </a:rPr>
              <a:t>esfera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que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mande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baseline="-25000" dirty="0">
                <a:solidFill>
                  <a:schemeClr val="tx1"/>
                </a:solidFill>
              </a:rPr>
              <a:t>I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roja</a:t>
            </a:r>
            <a:r>
              <a:rPr lang="en-US" dirty="0">
                <a:solidFill>
                  <a:schemeClr val="tx1"/>
                </a:solidFill>
              </a:rPr>
              <a:t>) a R</a:t>
            </a:r>
            <a:r>
              <a:rPr lang="en-US" baseline="-25000" dirty="0">
                <a:solidFill>
                  <a:schemeClr val="tx1"/>
                </a:solidFill>
              </a:rPr>
              <a:t>2</a:t>
            </a:r>
            <a:r>
              <a:rPr lang="en-GB" baseline="-250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accent1"/>
                </a:solidFill>
              </a:rPr>
              <a:t>azul</a:t>
            </a:r>
            <a:r>
              <a:rPr lang="en-US" dirty="0">
                <a:solidFill>
                  <a:schemeClr val="tx1"/>
                </a:solidFill>
              </a:rPr>
              <a:t>)</a:t>
            </a:r>
            <a:r>
              <a:rPr lang="en-GB" dirty="0">
                <a:solidFill>
                  <a:schemeClr val="tx1"/>
                </a:solidFill>
              </a:rPr>
              <a:t>.</a:t>
            </a:r>
            <a:endParaRPr lang="en-GB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dirty="0"/>
          </a:p>
          <a:p>
            <a:r>
              <a:rPr lang="en-US" dirty="0"/>
              <a:t>Puntos de </a:t>
            </a:r>
            <a:r>
              <a:rPr lang="en-US" dirty="0" err="1"/>
              <a:t>intersección</a:t>
            </a:r>
            <a:r>
              <a:rPr lang="en-US" dirty="0"/>
              <a:t> con la </a:t>
            </a:r>
            <a:r>
              <a:rPr lang="en-US" dirty="0" err="1"/>
              <a:t>esfera</a:t>
            </a:r>
            <a:r>
              <a:rPr lang="en-US" dirty="0"/>
              <a:t> </a:t>
            </a:r>
            <a:r>
              <a:rPr lang="en-GB" dirty="0">
                <a:solidFill>
                  <a:schemeClr val="tx1"/>
                </a:solidFill>
              </a:rPr>
              <a:t>(</a:t>
            </a:r>
            <a:r>
              <a:rPr lang="en-GB" dirty="0" err="1">
                <a:solidFill>
                  <a:schemeClr val="tx1"/>
                </a:solidFill>
              </a:rPr>
              <a:t>centro</a:t>
            </a:r>
            <a:r>
              <a:rPr lang="en-GB" dirty="0">
                <a:solidFill>
                  <a:schemeClr val="tx1"/>
                </a:solidFill>
              </a:rPr>
              <a:t> (0,0,0) y </a:t>
            </a:r>
            <a:r>
              <a:rPr lang="en-US" dirty="0"/>
              <a:t>radio 5) y UNA </a:t>
            </a:r>
            <a:r>
              <a:rPr lang="en-US" dirty="0" err="1"/>
              <a:t>matriz</a:t>
            </a:r>
            <a:r>
              <a:rPr lang="en-US" dirty="0"/>
              <a:t> de O(3,1), boost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38C9E3-BE01-8709-B13B-39583B2A2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695" y="947055"/>
            <a:ext cx="3333709" cy="29309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D6D64E-C3CA-B00E-0A4E-0DE1C4C9CBD3}"/>
              </a:ext>
            </a:extLst>
          </p:cNvPr>
          <p:cNvSpPr txBox="1"/>
          <p:nvPr/>
        </p:nvSpPr>
        <p:spPr>
          <a:xfrm>
            <a:off x="5360261" y="3631813"/>
            <a:ext cx="30011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sphereCenter_coplanar_with_TwoParallelLines.m</a:t>
            </a:r>
            <a:endParaRPr lang="en-US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0A2085-7E6A-0009-E512-2C27D8D95DB2}"/>
              </a:ext>
            </a:extLst>
          </p:cNvPr>
          <p:cNvSpPr txBox="1"/>
          <p:nvPr/>
        </p:nvSpPr>
        <p:spPr>
          <a:xfrm>
            <a:off x="1850571" y="4544586"/>
            <a:ext cx="6607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Ejercicio</a:t>
            </a:r>
            <a:r>
              <a:rPr lang="en-US" dirty="0"/>
              <a:t>: </a:t>
            </a:r>
            <a:r>
              <a:rPr lang="en-US" dirty="0" err="1"/>
              <a:t>verifique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M </a:t>
            </a:r>
            <a:r>
              <a:rPr lang="en-US" dirty="0" err="1"/>
              <a:t>preserva</a:t>
            </a:r>
            <a:r>
              <a:rPr lang="en-US" dirty="0"/>
              <a:t> la </a:t>
            </a:r>
            <a:r>
              <a:rPr lang="en-US" dirty="0" err="1"/>
              <a:t>esfera</a:t>
            </a:r>
            <a:r>
              <a:rPr lang="en-US" dirty="0"/>
              <a:t> y </a:t>
            </a:r>
            <a:r>
              <a:rPr lang="en-US" dirty="0" err="1"/>
              <a:t>envía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A</a:t>
            </a:r>
            <a:r>
              <a:rPr lang="en-US" baseline="-25000" dirty="0">
                <a:solidFill>
                  <a:schemeClr val="tx1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 y B</a:t>
            </a:r>
            <a:r>
              <a:rPr lang="en-US" baseline="-25000" dirty="0">
                <a:solidFill>
                  <a:schemeClr val="tx1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roja</a:t>
            </a:r>
            <a:r>
              <a:rPr lang="en-US" dirty="0">
                <a:solidFill>
                  <a:schemeClr val="tx1"/>
                </a:solidFill>
              </a:rPr>
              <a:t>) a A</a:t>
            </a:r>
            <a:r>
              <a:rPr lang="en-US" baseline="-25000" dirty="0">
                <a:solidFill>
                  <a:schemeClr val="tx1"/>
                </a:solidFill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 y B</a:t>
            </a:r>
            <a:r>
              <a:rPr lang="en-US" baseline="-25000" dirty="0">
                <a:solidFill>
                  <a:schemeClr val="tx1"/>
                </a:solidFill>
              </a:rPr>
              <a:t>2</a:t>
            </a:r>
            <a:r>
              <a:rPr lang="en-GB" baseline="-250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accent1"/>
                </a:solidFill>
              </a:rPr>
              <a:t>azul</a:t>
            </a:r>
            <a:r>
              <a:rPr lang="en-US" dirty="0">
                <a:solidFill>
                  <a:schemeClr val="tx1"/>
                </a:solidFill>
              </a:rPr>
              <a:t>)</a:t>
            </a:r>
            <a:r>
              <a:rPr lang="en-GB" dirty="0">
                <a:solidFill>
                  <a:schemeClr val="tx1"/>
                </a:solidFill>
              </a:rPr>
              <a:t>.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6FFB385-986F-A749-98D3-DBD910AFC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2571" y="3058888"/>
            <a:ext cx="2671605" cy="14422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08CF32A-3FF8-22C3-9EF4-232EC1AE73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600" y="3063792"/>
            <a:ext cx="1466316" cy="3033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B591745-F9DA-F442-44C3-1A63C242F3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487" y="3339789"/>
            <a:ext cx="1466319" cy="30337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8C080A6-7552-6B29-9661-F45D796122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697" y="3831608"/>
            <a:ext cx="1466316" cy="30337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4233149-96E2-3EEB-AF0B-3E8E28E503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874" y="4080033"/>
            <a:ext cx="1466316" cy="30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1750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946D5-9E26-A759-080C-141AA8F89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C509E-680C-9A3C-E306-3A40B5F66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Construcción</a:t>
            </a:r>
            <a:r>
              <a:rPr lang="en-US" dirty="0"/>
              <a:t> de la </a:t>
            </a:r>
            <a:r>
              <a:rPr lang="en-US" dirty="0" err="1"/>
              <a:t>matriz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O(3,1)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861D27-1768-52AE-9093-368F31A0EE3B}"/>
              </a:ext>
            </a:extLst>
          </p:cNvPr>
          <p:cNvSpPr txBox="1"/>
          <p:nvPr/>
        </p:nvSpPr>
        <p:spPr>
          <a:xfrm>
            <a:off x="591425" y="1041175"/>
            <a:ext cx="470991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solidFill>
                  <a:schemeClr val="tx1"/>
                </a:solidFill>
              </a:rPr>
              <a:t>Enviamos</a:t>
            </a:r>
            <a:r>
              <a:rPr lang="en-GB" dirty="0">
                <a:solidFill>
                  <a:schemeClr val="tx1"/>
                </a:solidFill>
              </a:rPr>
              <a:t> las </a:t>
            </a:r>
            <a:r>
              <a:rPr lang="en-GB" dirty="0" err="1">
                <a:solidFill>
                  <a:schemeClr val="tx1"/>
                </a:solidFill>
              </a:rPr>
              <a:t>intersecciones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A</a:t>
            </a:r>
            <a:r>
              <a:rPr lang="en-US" baseline="-25000" dirty="0">
                <a:solidFill>
                  <a:schemeClr val="tx1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 y B</a:t>
            </a:r>
            <a:r>
              <a:rPr lang="en-US" baseline="-25000" dirty="0">
                <a:solidFill>
                  <a:schemeClr val="tx1"/>
                </a:solidFill>
              </a:rPr>
              <a:t>1 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la </a:t>
            </a:r>
            <a:r>
              <a:rPr lang="en-US" dirty="0" err="1">
                <a:solidFill>
                  <a:srgbClr val="FF0000"/>
                </a:solidFill>
              </a:rPr>
              <a:t>linea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roja</a:t>
            </a:r>
            <a:r>
              <a:rPr lang="en-US" dirty="0">
                <a:solidFill>
                  <a:schemeClr val="tx1"/>
                </a:solidFill>
              </a:rPr>
              <a:t>) </a:t>
            </a:r>
            <a:r>
              <a:rPr lang="en-US" dirty="0" err="1">
                <a:solidFill>
                  <a:schemeClr val="tx1"/>
                </a:solidFill>
              </a:rPr>
              <a:t>en</a:t>
            </a:r>
            <a:r>
              <a:rPr lang="en-US" dirty="0">
                <a:solidFill>
                  <a:schemeClr val="tx1"/>
                </a:solidFill>
              </a:rPr>
              <a:t> las </a:t>
            </a:r>
            <a:r>
              <a:rPr lang="en-US" dirty="0" err="1">
                <a:solidFill>
                  <a:schemeClr val="tx1"/>
                </a:solidFill>
              </a:rPr>
              <a:t>intersecciones</a:t>
            </a:r>
            <a:r>
              <a:rPr lang="en-US" dirty="0">
                <a:solidFill>
                  <a:schemeClr val="tx1"/>
                </a:solidFill>
              </a:rPr>
              <a:t> A</a:t>
            </a:r>
            <a:r>
              <a:rPr lang="en-US" baseline="-25000" dirty="0">
                <a:solidFill>
                  <a:schemeClr val="tx1"/>
                </a:solidFill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 y B</a:t>
            </a:r>
            <a:r>
              <a:rPr lang="en-US" baseline="-25000" dirty="0">
                <a:solidFill>
                  <a:schemeClr val="tx1"/>
                </a:solidFill>
              </a:rPr>
              <a:t>2</a:t>
            </a:r>
            <a:r>
              <a:rPr lang="en-GB" baseline="-250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accent1"/>
                </a:solidFill>
              </a:rPr>
              <a:t>linea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azul</a:t>
            </a:r>
            <a:r>
              <a:rPr lang="en-US" dirty="0">
                <a:solidFill>
                  <a:schemeClr val="tx1"/>
                </a:solidFill>
              </a:rPr>
              <a:t>)</a:t>
            </a:r>
            <a:r>
              <a:rPr lang="en-GB" dirty="0">
                <a:solidFill>
                  <a:schemeClr val="tx1"/>
                </a:solidFill>
              </a:rPr>
              <a:t>, </a:t>
            </a:r>
            <a:r>
              <a:rPr lang="en-GB" dirty="0" err="1">
                <a:solidFill>
                  <a:schemeClr val="tx1"/>
                </a:solidFill>
              </a:rPr>
              <a:t>fijando</a:t>
            </a:r>
            <a:r>
              <a:rPr lang="en-GB" dirty="0">
                <a:solidFill>
                  <a:schemeClr val="tx1"/>
                </a:solidFill>
              </a:rPr>
              <a:t> la </a:t>
            </a:r>
            <a:r>
              <a:rPr lang="en-GB" dirty="0" err="1">
                <a:solidFill>
                  <a:schemeClr val="tx1"/>
                </a:solidFill>
              </a:rPr>
              <a:t>esfera</a:t>
            </a:r>
            <a:r>
              <a:rPr lang="en-GB" dirty="0">
                <a:solidFill>
                  <a:schemeClr val="tx1"/>
                </a:solidFill>
              </a:rPr>
              <a:t> de radio 5 y </a:t>
            </a:r>
            <a:r>
              <a:rPr lang="en-GB" dirty="0" err="1">
                <a:solidFill>
                  <a:schemeClr val="tx1"/>
                </a:solidFill>
              </a:rPr>
              <a:t>centro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en</a:t>
            </a:r>
            <a:r>
              <a:rPr lang="en-GB" dirty="0">
                <a:solidFill>
                  <a:schemeClr val="tx1"/>
                </a:solidFill>
              </a:rPr>
              <a:t> el </a:t>
            </a:r>
            <a:r>
              <a:rPr lang="en-GB" dirty="0" err="1">
                <a:solidFill>
                  <a:schemeClr val="tx1"/>
                </a:solidFill>
              </a:rPr>
              <a:t>origen</a:t>
            </a:r>
            <a:r>
              <a:rPr lang="en-GB" dirty="0">
                <a:solidFill>
                  <a:schemeClr val="tx1"/>
                </a:solidFill>
              </a:rPr>
              <a:t> de 3D.</a:t>
            </a:r>
          </a:p>
          <a:p>
            <a:endParaRPr lang="en-GB" dirty="0">
              <a:solidFill>
                <a:schemeClr val="tx1"/>
              </a:solidFill>
            </a:endParaRPr>
          </a:p>
          <a:p>
            <a:r>
              <a:rPr lang="en-US" dirty="0"/>
              <a:t>El </a:t>
            </a:r>
            <a:r>
              <a:rPr lang="en-US" b="1" dirty="0" err="1"/>
              <a:t>proceso</a:t>
            </a:r>
            <a:r>
              <a:rPr lang="en-US" dirty="0"/>
              <a:t>: </a:t>
            </a:r>
            <a:r>
              <a:rPr lang="en-US" dirty="0" err="1"/>
              <a:t>transformar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A</a:t>
            </a:r>
            <a:r>
              <a:rPr lang="en-US" baseline="-25000" dirty="0">
                <a:solidFill>
                  <a:schemeClr val="tx1"/>
                </a:solidFill>
              </a:rPr>
              <a:t>1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y B</a:t>
            </a:r>
            <a:r>
              <a:rPr lang="en-US" baseline="-25000" dirty="0">
                <a:solidFill>
                  <a:schemeClr val="tx1"/>
                </a:solidFill>
              </a:rPr>
              <a:t>1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esfera</a:t>
            </a:r>
            <a:r>
              <a:rPr lang="en-US" dirty="0"/>
              <a:t> </a:t>
            </a:r>
            <a:r>
              <a:rPr lang="en-GB" dirty="0">
                <a:solidFill>
                  <a:schemeClr val="tx1"/>
                </a:solidFill>
              </a:rPr>
              <a:t>(</a:t>
            </a:r>
            <a:r>
              <a:rPr lang="en-GB" dirty="0" err="1">
                <a:solidFill>
                  <a:schemeClr val="tx1"/>
                </a:solidFill>
              </a:rPr>
              <a:t>centro</a:t>
            </a:r>
            <a:r>
              <a:rPr lang="en-GB" dirty="0">
                <a:solidFill>
                  <a:schemeClr val="tx1"/>
                </a:solidFill>
              </a:rPr>
              <a:t> (0,0,0) y </a:t>
            </a:r>
            <a:r>
              <a:rPr lang="en-US" dirty="0"/>
              <a:t>radio 5) x</a:t>
            </a:r>
            <a:r>
              <a:rPr lang="en-US" baseline="30000" dirty="0"/>
              <a:t>2</a:t>
            </a:r>
            <a:r>
              <a:rPr lang="en-US" dirty="0"/>
              <a:t>+y</a:t>
            </a:r>
            <a:r>
              <a:rPr lang="en-US" baseline="30000" dirty="0"/>
              <a:t>2</a:t>
            </a:r>
            <a:r>
              <a:rPr lang="en-US" dirty="0"/>
              <a:t>+z</a:t>
            </a:r>
            <a:r>
              <a:rPr lang="en-US" baseline="30000" dirty="0"/>
              <a:t>2</a:t>
            </a:r>
            <a:r>
              <a:rPr lang="en-US" dirty="0"/>
              <a:t>-5</a:t>
            </a:r>
            <a:r>
              <a:rPr lang="en-US" baseline="30000" dirty="0"/>
              <a:t>2</a:t>
            </a:r>
            <a:r>
              <a:rPr lang="en-US" dirty="0"/>
              <a:t>=0 </a:t>
            </a:r>
            <a:r>
              <a:rPr lang="en-US" dirty="0" err="1"/>
              <a:t>en</a:t>
            </a:r>
            <a:r>
              <a:rPr lang="en-US" dirty="0"/>
              <a:t> sus puntos </a:t>
            </a:r>
            <a:r>
              <a:rPr lang="en-US" dirty="0" err="1"/>
              <a:t>correspondientes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P</a:t>
            </a:r>
            <a:r>
              <a:rPr lang="en-US" baseline="30000" dirty="0"/>
              <a:t>3</a:t>
            </a:r>
            <a:r>
              <a:rPr lang="en-US" dirty="0"/>
              <a:t>. Y </a:t>
            </a:r>
            <a:r>
              <a:rPr lang="en-US" dirty="0" err="1"/>
              <a:t>similarmente</a:t>
            </a:r>
            <a:r>
              <a:rPr lang="en-US" dirty="0"/>
              <a:t> con </a:t>
            </a:r>
            <a:r>
              <a:rPr lang="en-US" dirty="0">
                <a:solidFill>
                  <a:schemeClr val="tx1"/>
                </a:solidFill>
              </a:rPr>
              <a:t>A</a:t>
            </a:r>
            <a:r>
              <a:rPr lang="en-US" baseline="-25000" dirty="0">
                <a:solidFill>
                  <a:schemeClr val="tx1"/>
                </a:solidFill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 y B</a:t>
            </a:r>
            <a:r>
              <a:rPr lang="en-US" baseline="-25000" dirty="0">
                <a:solidFill>
                  <a:schemeClr val="tx1"/>
                </a:solidFill>
              </a:rPr>
              <a:t>2</a:t>
            </a:r>
            <a:r>
              <a:rPr lang="en-GB" dirty="0">
                <a:solidFill>
                  <a:schemeClr val="tx1"/>
                </a:solidFill>
              </a:rPr>
              <a:t>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DAA52C-3157-B4BF-295E-560409B45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9512" y="936307"/>
            <a:ext cx="3282788" cy="31582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5D45C9-98C8-F63C-8A8F-951947C53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600" y="3063792"/>
            <a:ext cx="1466316" cy="3033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FDFA37F-08BC-EF61-453E-246C0559E7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487" y="3339789"/>
            <a:ext cx="1466319" cy="3033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4B633C1-3B5D-B6D3-EFBF-174900D24F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469" y="3831608"/>
            <a:ext cx="1466316" cy="3033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7662EFA-207F-864E-A741-F5C8912152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760" y="4080033"/>
            <a:ext cx="1466316" cy="3033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7D58546-62FB-80F1-0223-4DB3D0200644}"/>
                  </a:ext>
                </a:extLst>
              </p:cNvPr>
              <p:cNvSpPr txBox="1"/>
              <p:nvPr/>
            </p:nvSpPr>
            <p:spPr>
              <a:xfrm>
                <a:off x="2606820" y="3056444"/>
                <a:ext cx="1312037" cy="2950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[ -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rad>
                  </m:oMath>
                </a14:m>
                <a:r>
                  <a:rPr lang="en-US" sz="1200" dirty="0"/>
                  <a:t>, 0, 2, 5 ]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7D58546-62FB-80F1-0223-4DB3D02006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6820" y="3056444"/>
                <a:ext cx="1312037" cy="295017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D3CAB52-6035-768A-F5CA-BE09568A4A3C}"/>
                  </a:ext>
                </a:extLst>
              </p:cNvPr>
              <p:cNvSpPr txBox="1"/>
              <p:nvPr/>
            </p:nvSpPr>
            <p:spPr>
              <a:xfrm>
                <a:off x="2066848" y="3117740"/>
                <a:ext cx="756138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D3CAB52-6035-768A-F5CA-BE09568A4A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6848" y="3117740"/>
                <a:ext cx="756138" cy="215444"/>
              </a:xfrm>
              <a:prstGeom prst="rect">
                <a:avLst/>
              </a:prstGeom>
              <a:blipFill>
                <a:blip r:embed="rId8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7EA37DB-947B-9D4F-063A-2CA86396C8A8}"/>
                  </a:ext>
                </a:extLst>
              </p:cNvPr>
              <p:cNvSpPr txBox="1"/>
              <p:nvPr/>
            </p:nvSpPr>
            <p:spPr>
              <a:xfrm>
                <a:off x="2052197" y="3402026"/>
                <a:ext cx="756138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7EA37DB-947B-9D4F-063A-2CA86396C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2197" y="3402026"/>
                <a:ext cx="756138" cy="215444"/>
              </a:xfrm>
              <a:prstGeom prst="rect">
                <a:avLst/>
              </a:prstGeom>
              <a:blipFill>
                <a:blip r:embed="rId9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9BEAF15-EE61-425F-68FD-56FC1C40A216}"/>
                  </a:ext>
                </a:extLst>
              </p:cNvPr>
              <p:cNvSpPr txBox="1"/>
              <p:nvPr/>
            </p:nvSpPr>
            <p:spPr>
              <a:xfrm>
                <a:off x="2609751" y="3358315"/>
                <a:ext cx="1312037" cy="2950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[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rad>
                  </m:oMath>
                </a14:m>
                <a:r>
                  <a:rPr lang="en-US" sz="1200" dirty="0"/>
                  <a:t>, 0, 2, 5 ]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9BEAF15-EE61-425F-68FD-56FC1C40A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9751" y="3358315"/>
                <a:ext cx="1312037" cy="295017"/>
              </a:xfrm>
              <a:prstGeom prst="rect">
                <a:avLst/>
              </a:prstGeom>
              <a:blipFill>
                <a:blip r:embed="rId10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70879013-A0BE-85E6-CBE2-AFDD3B0C0140}"/>
              </a:ext>
            </a:extLst>
          </p:cNvPr>
          <p:cNvSpPr txBox="1"/>
          <p:nvPr/>
        </p:nvSpPr>
        <p:spPr>
          <a:xfrm>
            <a:off x="2479668" y="4163367"/>
            <a:ext cx="62335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Ejercicio</a:t>
            </a:r>
            <a:r>
              <a:rPr lang="en-US" dirty="0"/>
              <a:t>: </a:t>
            </a:r>
            <a:r>
              <a:rPr lang="en-US" dirty="0" err="1"/>
              <a:t>escriba</a:t>
            </a:r>
            <a:r>
              <a:rPr lang="en-US" dirty="0"/>
              <a:t> un script </a:t>
            </a:r>
            <a:r>
              <a:rPr lang="en-US" dirty="0" err="1"/>
              <a:t>en</a:t>
            </a:r>
            <a:r>
              <a:rPr lang="en-US" dirty="0"/>
              <a:t> Python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crea</a:t>
            </a:r>
            <a:r>
              <a:rPr lang="en-US" dirty="0"/>
              <a:t> M, </a:t>
            </a:r>
            <a:r>
              <a:rPr lang="en-US" dirty="0" err="1"/>
              <a:t>matriz</a:t>
            </a:r>
            <a:r>
              <a:rPr lang="en-US" dirty="0"/>
              <a:t> 4x4 de O(3,1)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envía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A</a:t>
            </a:r>
            <a:r>
              <a:rPr lang="en-US" baseline="-25000" dirty="0">
                <a:solidFill>
                  <a:schemeClr val="tx1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 y B</a:t>
            </a:r>
            <a:r>
              <a:rPr lang="en-US" baseline="-25000" dirty="0">
                <a:solidFill>
                  <a:schemeClr val="tx1"/>
                </a:solidFill>
              </a:rPr>
              <a:t>1  </a:t>
            </a:r>
            <a:r>
              <a:rPr lang="en-US" dirty="0" err="1">
                <a:solidFill>
                  <a:schemeClr val="tx1"/>
                </a:solidFill>
              </a:rPr>
              <a:t>en</a:t>
            </a:r>
            <a:r>
              <a:rPr lang="en-US" dirty="0">
                <a:solidFill>
                  <a:schemeClr val="tx1"/>
                </a:solidFill>
              </a:rPr>
              <a:t> A</a:t>
            </a:r>
            <a:r>
              <a:rPr lang="en-US" baseline="-25000" dirty="0">
                <a:solidFill>
                  <a:schemeClr val="tx1"/>
                </a:solidFill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 y B</a:t>
            </a:r>
            <a:r>
              <a:rPr lang="en-US" baseline="-25000" dirty="0">
                <a:solidFill>
                  <a:schemeClr val="tx1"/>
                </a:solidFill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. Una idea es .....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827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950EB-F4AA-EFF5-6B08-D9AD81829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62149-687E-F17B-328B-0CA28867C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Una idea es .....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E28C99-0BCE-1391-9B00-61EDCD7A1063}"/>
              </a:ext>
            </a:extLst>
          </p:cNvPr>
          <p:cNvSpPr txBox="1"/>
          <p:nvPr/>
        </p:nvSpPr>
        <p:spPr>
          <a:xfrm>
            <a:off x="591425" y="1041175"/>
            <a:ext cx="47099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chemeClr val="tx1"/>
                </a:solidFill>
              </a:rPr>
              <a:t>Construir</a:t>
            </a:r>
            <a:r>
              <a:rPr lang="en-GB" dirty="0">
                <a:solidFill>
                  <a:schemeClr val="tx1"/>
                </a:solidFill>
              </a:rPr>
              <a:t> dos bases </a:t>
            </a:r>
            <a:r>
              <a:rPr lang="en-GB" dirty="0" err="1">
                <a:solidFill>
                  <a:schemeClr val="tx1"/>
                </a:solidFill>
              </a:rPr>
              <a:t>ortogonales</a:t>
            </a:r>
            <a:r>
              <a:rPr lang="en-GB" dirty="0">
                <a:solidFill>
                  <a:schemeClr val="tx1"/>
                </a:solidFill>
              </a:rPr>
              <a:t> Lorentz, </a:t>
            </a:r>
            <a:r>
              <a:rPr lang="en-GB" dirty="0" err="1">
                <a:solidFill>
                  <a:schemeClr val="tx1"/>
                </a:solidFill>
              </a:rPr>
              <a:t>cada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una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asociada</a:t>
            </a:r>
            <a:r>
              <a:rPr lang="en-GB" dirty="0">
                <a:solidFill>
                  <a:schemeClr val="tx1"/>
                </a:solidFill>
              </a:rPr>
              <a:t> a </a:t>
            </a:r>
            <a:r>
              <a:rPr lang="en-GB" dirty="0" err="1">
                <a:solidFill>
                  <a:schemeClr val="tx1"/>
                </a:solidFill>
              </a:rPr>
              <a:t>una</a:t>
            </a:r>
            <a:r>
              <a:rPr lang="en-GB" dirty="0">
                <a:solidFill>
                  <a:schemeClr val="tx1"/>
                </a:solidFill>
              </a:rPr>
              <a:t> recta </a:t>
            </a:r>
            <a:r>
              <a:rPr lang="en-GB" dirty="0" err="1">
                <a:solidFill>
                  <a:schemeClr val="tx1"/>
                </a:solidFill>
              </a:rPr>
              <a:t>proyectiva</a:t>
            </a:r>
            <a:r>
              <a:rPr lang="en-GB" dirty="0">
                <a:solidFill>
                  <a:schemeClr val="tx1"/>
                </a:solidFill>
              </a:rPr>
              <a:t> (</a:t>
            </a:r>
            <a:r>
              <a:rPr lang="en-US" dirty="0" err="1">
                <a:solidFill>
                  <a:srgbClr val="FF0000"/>
                </a:solidFill>
              </a:rPr>
              <a:t>roja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GB" dirty="0">
                <a:solidFill>
                  <a:schemeClr val="tx1"/>
                </a:solidFill>
              </a:rPr>
              <a:t>y </a:t>
            </a:r>
            <a:r>
              <a:rPr lang="en-US" dirty="0" err="1">
                <a:solidFill>
                  <a:schemeClr val="accent1"/>
                </a:solidFill>
              </a:rPr>
              <a:t>azul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C46165-05FC-BE30-3E9D-36359C771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9512" y="936307"/>
            <a:ext cx="3282788" cy="31582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C9C9783-7C2A-E6AC-A035-EFE6A57A97E4}"/>
              </a:ext>
            </a:extLst>
          </p:cNvPr>
          <p:cNvSpPr txBox="1"/>
          <p:nvPr/>
        </p:nvSpPr>
        <p:spPr>
          <a:xfrm>
            <a:off x="4914963" y="4375062"/>
            <a:ext cx="41063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script </a:t>
            </a:r>
            <a:r>
              <a:rPr lang="en-GB" dirty="0" err="1">
                <a:solidFill>
                  <a:schemeClr val="tx1"/>
                </a:solidFill>
              </a:rPr>
              <a:t>en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Matlab</a:t>
            </a:r>
            <a:r>
              <a:rPr lang="en-GB" dirty="0">
                <a:solidFill>
                  <a:schemeClr val="tx1"/>
                </a:solidFill>
              </a:rPr>
              <a:t>: </a:t>
            </a:r>
            <a:r>
              <a:rPr lang="en-GB" dirty="0" err="1">
                <a:solidFill>
                  <a:schemeClr val="tx1"/>
                </a:solidFill>
              </a:rPr>
              <a:t>defaultExampleProjectiveMapParallelLines.m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167850-14A9-1C03-322D-94DD15A5D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" y="1597977"/>
            <a:ext cx="2667389" cy="8364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EA40E2-B9F3-DD4C-A82C-B6AF614F39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00" y="2515416"/>
            <a:ext cx="2031092" cy="12880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9947B8-5FBD-68A5-ECFB-15EB30547D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100" y="3771662"/>
            <a:ext cx="3142862" cy="4239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C43847D-300D-6F85-2382-01F4C208B8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100" y="4238181"/>
            <a:ext cx="3801946" cy="45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8350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C9EBE-D498-C10F-9EEF-06F5D872D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029AA-9B28-E6D8-CD0D-983C46DD0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Una idea es ..... </a:t>
            </a:r>
            <a:r>
              <a:rPr lang="en-US" dirty="0" err="1">
                <a:solidFill>
                  <a:schemeClr val="tx1"/>
                </a:solidFill>
              </a:rPr>
              <a:t>continuación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A3C898-23F9-30A5-5294-CE2885EFCBF6}"/>
              </a:ext>
            </a:extLst>
          </p:cNvPr>
          <p:cNvSpPr txBox="1"/>
          <p:nvPr/>
        </p:nvSpPr>
        <p:spPr>
          <a:xfrm>
            <a:off x="591425" y="1041175"/>
            <a:ext cx="39805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u</a:t>
            </a:r>
            <a:r>
              <a:rPr lang="en-GB" baseline="-25000" dirty="0">
                <a:solidFill>
                  <a:schemeClr val="tx1"/>
                </a:solidFill>
              </a:rPr>
              <a:t>1</a:t>
            </a:r>
            <a:r>
              <a:rPr lang="en-GB" dirty="0">
                <a:solidFill>
                  <a:schemeClr val="tx1"/>
                </a:solidFill>
              </a:rPr>
              <a:t>, v</a:t>
            </a:r>
            <a:r>
              <a:rPr lang="en-GB" baseline="-25000" dirty="0">
                <a:solidFill>
                  <a:schemeClr val="tx1"/>
                </a:solidFill>
              </a:rPr>
              <a:t>1</a:t>
            </a:r>
            <a:r>
              <a:rPr lang="en-GB" dirty="0">
                <a:solidFill>
                  <a:schemeClr val="tx1"/>
                </a:solidFill>
              </a:rPr>
              <a:t> y u</a:t>
            </a:r>
            <a:r>
              <a:rPr lang="en-GB" baseline="-25000" dirty="0">
                <a:solidFill>
                  <a:schemeClr val="tx1"/>
                </a:solidFill>
              </a:rPr>
              <a:t>2</a:t>
            </a:r>
            <a:r>
              <a:rPr lang="en-GB" dirty="0">
                <a:solidFill>
                  <a:schemeClr val="tx1"/>
                </a:solidFill>
              </a:rPr>
              <a:t>, v</a:t>
            </a:r>
            <a:r>
              <a:rPr lang="en-GB" baseline="-25000" dirty="0">
                <a:solidFill>
                  <a:schemeClr val="tx1"/>
                </a:solidFill>
              </a:rPr>
              <a:t>2  </a:t>
            </a:r>
            <a:r>
              <a:rPr lang="en-GB" dirty="0">
                <a:solidFill>
                  <a:schemeClr val="tx1"/>
                </a:solidFill>
              </a:rPr>
              <a:t>son las bases </a:t>
            </a:r>
            <a:r>
              <a:rPr lang="en-GB" dirty="0" err="1">
                <a:solidFill>
                  <a:schemeClr val="tx1"/>
                </a:solidFill>
              </a:rPr>
              <a:t>asociadas</a:t>
            </a:r>
            <a:r>
              <a:rPr lang="en-GB" dirty="0">
                <a:solidFill>
                  <a:schemeClr val="tx1"/>
                </a:solidFill>
              </a:rPr>
              <a:t> a L</a:t>
            </a:r>
            <a:r>
              <a:rPr lang="en-GB" baseline="-25000" dirty="0">
                <a:solidFill>
                  <a:schemeClr val="tx1"/>
                </a:solidFill>
              </a:rPr>
              <a:t>1</a:t>
            </a:r>
            <a:r>
              <a:rPr lang="en-GB" dirty="0">
                <a:solidFill>
                  <a:schemeClr val="tx1"/>
                </a:solidFill>
              </a:rPr>
              <a:t> y L</a:t>
            </a:r>
            <a:r>
              <a:rPr lang="en-GB" baseline="-25000" dirty="0">
                <a:solidFill>
                  <a:schemeClr val="tx1"/>
                </a:solidFill>
              </a:rPr>
              <a:t>2</a:t>
            </a:r>
            <a:r>
              <a:rPr lang="en-GB" dirty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7832DD-C9E0-8495-26B6-D87313C1796E}"/>
              </a:ext>
            </a:extLst>
          </p:cNvPr>
          <p:cNvSpPr txBox="1"/>
          <p:nvPr/>
        </p:nvSpPr>
        <p:spPr>
          <a:xfrm>
            <a:off x="1234205" y="4310914"/>
            <a:ext cx="41063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script </a:t>
            </a:r>
            <a:r>
              <a:rPr lang="en-GB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en</a:t>
            </a:r>
            <a:r>
              <a:rPr lang="en-GB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en-GB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Matlab</a:t>
            </a:r>
            <a:r>
              <a:rPr lang="en-GB" dirty="0">
                <a:solidFill>
                  <a:schemeClr val="bg2">
                    <a:lumMod val="60000"/>
                    <a:lumOff val="40000"/>
                  </a:schemeClr>
                </a:solidFill>
              </a:rPr>
              <a:t>: </a:t>
            </a:r>
            <a:r>
              <a:rPr lang="en-GB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defaultExampleProjectiveMapParallelLines.m</a:t>
            </a:r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929D56-161F-8E9E-5728-AFAFC8A97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68" y="2559122"/>
            <a:ext cx="3142862" cy="4239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39C8CB-37A7-9383-B573-45B8D1032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468" y="2983086"/>
            <a:ext cx="3801946" cy="4507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AE4F9D-7DB6-8730-4170-63EC83B171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468" y="1513446"/>
            <a:ext cx="3468494" cy="9705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E753616-4925-7799-A44B-CF0687BA75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1343" y="1485741"/>
            <a:ext cx="2938501" cy="196518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FEE735A-69C0-4E47-39BB-4E4C69FE508D}"/>
              </a:ext>
            </a:extLst>
          </p:cNvPr>
          <p:cNvSpPr txBox="1"/>
          <p:nvPr/>
        </p:nvSpPr>
        <p:spPr>
          <a:xfrm>
            <a:off x="5040761" y="1069429"/>
            <a:ext cx="3199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Y </a:t>
            </a:r>
            <a:r>
              <a:rPr lang="en-GB" dirty="0" err="1">
                <a:solidFill>
                  <a:schemeClr val="tx1"/>
                </a:solidFill>
              </a:rPr>
              <a:t>podemos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extenderlas</a:t>
            </a:r>
            <a:r>
              <a:rPr lang="en-GB" dirty="0">
                <a:solidFill>
                  <a:schemeClr val="tx1"/>
                </a:solidFill>
              </a:rPr>
              <a:t> bases de R</a:t>
            </a:r>
            <a:r>
              <a:rPr lang="en-GB" baseline="30000" dirty="0">
                <a:solidFill>
                  <a:schemeClr val="tx1"/>
                </a:solidFill>
              </a:rPr>
              <a:t>4</a:t>
            </a:r>
            <a:endParaRPr lang="en-US" baseline="30000" dirty="0">
              <a:solidFill>
                <a:schemeClr val="tx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4981C12-7822-D204-8C90-809ECBB06B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1070" y="3433832"/>
            <a:ext cx="1732411" cy="141030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9A1DBC5-FB75-CC8D-E974-BD84013C75A4}"/>
              </a:ext>
            </a:extLst>
          </p:cNvPr>
          <p:cNvSpPr txBox="1"/>
          <p:nvPr/>
        </p:nvSpPr>
        <p:spPr>
          <a:xfrm>
            <a:off x="584178" y="3581469"/>
            <a:ext cx="4263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grok dice: M es </a:t>
            </a:r>
            <a:r>
              <a:rPr lang="en-GB" dirty="0" err="1">
                <a:solidFill>
                  <a:schemeClr val="tx1"/>
                </a:solidFill>
              </a:rPr>
              <a:t>bastante</a:t>
            </a:r>
            <a:r>
              <a:rPr lang="en-GB" dirty="0">
                <a:solidFill>
                  <a:schemeClr val="tx1"/>
                </a:solidFill>
              </a:rPr>
              <a:t> rigida: </a:t>
            </a:r>
            <a:r>
              <a:rPr lang="en-GB" dirty="0" err="1">
                <a:solidFill>
                  <a:schemeClr val="tx1"/>
                </a:solidFill>
              </a:rPr>
              <a:t>respeta</a:t>
            </a:r>
            <a:r>
              <a:rPr lang="en-GB" dirty="0">
                <a:solidFill>
                  <a:schemeClr val="tx1"/>
                </a:solidFill>
              </a:rPr>
              <a:t> la </a:t>
            </a:r>
            <a:r>
              <a:rPr lang="en-GB" dirty="0" err="1">
                <a:solidFill>
                  <a:schemeClr val="tx1"/>
                </a:solidFill>
              </a:rPr>
              <a:t>posicion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relativa</a:t>
            </a:r>
            <a:r>
              <a:rPr lang="en-GB" dirty="0">
                <a:solidFill>
                  <a:schemeClr val="tx1"/>
                </a:solidFill>
              </a:rPr>
              <a:t> de puntos </a:t>
            </a:r>
            <a:r>
              <a:rPr lang="en-GB" dirty="0" err="1">
                <a:solidFill>
                  <a:schemeClr val="tx1"/>
                </a:solidFill>
              </a:rPr>
              <a:t>externos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cercanos</a:t>
            </a:r>
            <a:r>
              <a:rPr lang="en-GB" dirty="0">
                <a:solidFill>
                  <a:schemeClr val="tx1"/>
                </a:solidFill>
              </a:rPr>
              <a:t> a la </a:t>
            </a:r>
            <a:r>
              <a:rPr lang="en-GB" dirty="0" err="1">
                <a:solidFill>
                  <a:schemeClr val="tx1"/>
                </a:solidFill>
              </a:rPr>
              <a:t>esfera</a:t>
            </a:r>
            <a:endParaRPr lang="en-US" baseline="30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3882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0CC7A-6493-344F-EAEB-B957DB471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1EFC422-DE05-5C9B-E477-82DB3704360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11700" y="445025"/>
                <a:ext cx="8520600" cy="572700"/>
              </a:xfrm>
            </p:spPr>
            <p:txBody>
              <a:bodyPr wrap="square" anchor="ctr">
                <a:norm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dirty="0"/>
                  <a:t>Efecto de recta </a:t>
                </a:r>
                <a:r>
                  <a:rPr lang="en-US" err="1"/>
                  <a:t>roja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recta </a:t>
                </a:r>
                <a:r>
                  <a:rPr lang="en-US" err="1"/>
                  <a:t>azul</a:t>
                </a:r>
                <a:r>
                  <a:rPr lang="en-US" dirty="0"/>
                  <a:t> </a:t>
                </a:r>
                <a:r>
                  <a:rPr lang="en-US" dirty="0" err="1"/>
                  <a:t>sobre</a:t>
                </a:r>
                <a:r>
                  <a:rPr lang="en-US" dirty="0"/>
                  <a:t> CLUSTERS </a:t>
                </a:r>
                <a:endParaRPr lang="en-US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1EFC422-DE05-5C9B-E477-82DB370436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11700" y="445025"/>
                <a:ext cx="8520600" cy="572700"/>
              </a:xfrm>
              <a:blipFill>
                <a:blip r:embed="rId2"/>
                <a:stretch>
                  <a:fillRect l="-1488" t="-10870" b="-1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A1D4D84C-209A-926C-C296-40BB7433BFE5}"/>
              </a:ext>
            </a:extLst>
          </p:cNvPr>
          <p:cNvSpPr txBox="1"/>
          <p:nvPr/>
        </p:nvSpPr>
        <p:spPr>
          <a:xfrm>
            <a:off x="4667250" y="1152475"/>
            <a:ext cx="416505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t" anchorCtr="0">
            <a:normAutofit/>
          </a:bodyPr>
          <a:lstStyle/>
          <a:p>
            <a:pPr marL="457200" indent="-342900">
              <a:spcAft>
                <a:spcPts val="60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US" sz="1800" b="0" i="0" u="none" strike="noStrike" cap="none" dirty="0">
                <a:solidFill>
                  <a:schemeClr val="dk2"/>
                </a:solidFill>
              </a:rPr>
              <a:t>Esto </a:t>
            </a:r>
            <a:r>
              <a:rPr lang="en-US" sz="1800" b="0" i="0" u="none" strike="noStrike" cap="none" dirty="0" err="1">
                <a:solidFill>
                  <a:schemeClr val="dk2"/>
                </a:solidFill>
              </a:rPr>
              <a:t>muestra</a:t>
            </a:r>
            <a:r>
              <a:rPr lang="en-US" sz="1800" b="0" i="0" u="none" strike="noStrike" cap="none" dirty="0">
                <a:solidFill>
                  <a:schemeClr val="dk2"/>
                </a:solidFill>
              </a:rPr>
              <a:t> </a:t>
            </a:r>
            <a:r>
              <a:rPr lang="en-US" sz="1800" b="0" i="0" u="none" strike="noStrike" cap="none" dirty="0" err="1">
                <a:solidFill>
                  <a:schemeClr val="dk2"/>
                </a:solidFill>
              </a:rPr>
              <a:t>como</a:t>
            </a:r>
            <a:r>
              <a:rPr lang="en-US" sz="1800" b="0" i="0" u="none" strike="noStrike" cap="none" dirty="0">
                <a:solidFill>
                  <a:schemeClr val="dk2"/>
                </a:solidFill>
              </a:rPr>
              <a:t> </a:t>
            </a:r>
            <a:r>
              <a:rPr lang="en-US" sz="1800" b="0" i="0" u="none" strike="noStrike" cap="none" dirty="0" err="1">
                <a:solidFill>
                  <a:schemeClr val="dk2"/>
                </a:solidFill>
              </a:rPr>
              <a:t>esta</a:t>
            </a:r>
            <a:r>
              <a:rPr lang="en-US" sz="1800" b="0" i="0" u="none" strike="noStrike" cap="none" dirty="0">
                <a:solidFill>
                  <a:schemeClr val="dk2"/>
                </a:solidFill>
              </a:rPr>
              <a:t> </a:t>
            </a:r>
            <a:r>
              <a:rPr lang="en-US" sz="1800" b="0" i="0" u="none" strike="noStrike" cap="none" dirty="0" err="1">
                <a:solidFill>
                  <a:schemeClr val="dk2"/>
                </a:solidFill>
              </a:rPr>
              <a:t>transformación</a:t>
            </a:r>
            <a:r>
              <a:rPr lang="en-US" sz="1800" b="0" i="0" u="none" strike="noStrike" cap="none" dirty="0">
                <a:solidFill>
                  <a:schemeClr val="dk2"/>
                </a:solidFill>
              </a:rPr>
              <a:t> (</a:t>
            </a:r>
            <a:r>
              <a:rPr lang="en-US" sz="1800" b="0" i="0" u="none" strike="noStrike" cap="none" dirty="0" err="1">
                <a:solidFill>
                  <a:schemeClr val="dk2"/>
                </a:solidFill>
              </a:rPr>
              <a:t>muy</a:t>
            </a:r>
            <a:r>
              <a:rPr lang="en-US" sz="1800" b="0" i="0" u="none" strike="noStrike" cap="none" dirty="0">
                <a:solidFill>
                  <a:schemeClr val="dk2"/>
                </a:solidFill>
              </a:rPr>
              <a:t> especial) de O(3,1) </a:t>
            </a:r>
            <a:r>
              <a:rPr lang="en-US" sz="1800" b="0" i="0" u="none" strike="noStrike" cap="none" dirty="0" err="1">
                <a:solidFill>
                  <a:schemeClr val="dk2"/>
                </a:solidFill>
              </a:rPr>
              <a:t>preserva</a:t>
            </a:r>
            <a:r>
              <a:rPr lang="en-US" sz="1800" b="0" i="0" u="none" strike="noStrike" cap="none" dirty="0">
                <a:solidFill>
                  <a:schemeClr val="dk2"/>
                </a:solidFill>
              </a:rPr>
              <a:t> </a:t>
            </a:r>
            <a:r>
              <a:rPr lang="en-US" sz="1800" b="0" i="0" u="none" strike="noStrike" cap="none" dirty="0" err="1">
                <a:solidFill>
                  <a:schemeClr val="dk2"/>
                </a:solidFill>
              </a:rPr>
              <a:t>una</a:t>
            </a:r>
            <a:r>
              <a:rPr lang="en-US" sz="1800" b="0" i="0" u="none" strike="noStrike" cap="none" dirty="0">
                <a:solidFill>
                  <a:schemeClr val="dk2"/>
                </a:solidFill>
              </a:rPr>
              <a:t> </a:t>
            </a:r>
            <a:r>
              <a:rPr lang="en-US" sz="1800" b="0" i="0" u="none" strike="noStrike" cap="none" dirty="0" err="1">
                <a:solidFill>
                  <a:schemeClr val="dk2"/>
                </a:solidFill>
              </a:rPr>
              <a:t>esfera</a:t>
            </a:r>
            <a:r>
              <a:rPr lang="en-US" sz="1800" b="0" i="0" u="none" strike="noStrike" cap="none" dirty="0">
                <a:solidFill>
                  <a:schemeClr val="dk2"/>
                </a:solidFill>
              </a:rPr>
              <a:t> </a:t>
            </a:r>
            <a:r>
              <a:rPr lang="en-US" sz="1800" b="0" i="0" u="none" strike="noStrike" cap="none" dirty="0" err="1">
                <a:solidFill>
                  <a:schemeClr val="dk2"/>
                </a:solidFill>
              </a:rPr>
              <a:t>muy</a:t>
            </a:r>
            <a:r>
              <a:rPr lang="en-US" sz="1800" b="0" i="0" u="none" strike="noStrike" cap="none" dirty="0">
                <a:solidFill>
                  <a:schemeClr val="dk2"/>
                </a:solidFill>
              </a:rPr>
              <a:t> especial y </a:t>
            </a:r>
            <a:r>
              <a:rPr lang="en-US" sz="1800" b="0" i="0" u="none" strike="noStrike" cap="none" dirty="0" err="1">
                <a:solidFill>
                  <a:schemeClr val="dk2"/>
                </a:solidFill>
              </a:rPr>
              <a:t>transforma</a:t>
            </a:r>
            <a:r>
              <a:rPr lang="en-US" sz="1800" b="0" i="0" u="none" strike="noStrike" cap="none" dirty="0">
                <a:solidFill>
                  <a:schemeClr val="dk2"/>
                </a:solidFill>
              </a:rPr>
              <a:t> </a:t>
            </a:r>
            <a:r>
              <a:rPr lang="en-US" sz="1800" b="0" i="0" u="none" strike="noStrike" cap="none" dirty="0" err="1">
                <a:solidFill>
                  <a:schemeClr val="dk2"/>
                </a:solidFill>
              </a:rPr>
              <a:t>una</a:t>
            </a:r>
            <a:r>
              <a:rPr lang="en-US" sz="1800" b="0" i="0" u="none" strike="noStrike" cap="none" dirty="0">
                <a:solidFill>
                  <a:schemeClr val="dk2"/>
                </a:solidFill>
              </a:rPr>
              <a:t> recta </a:t>
            </a:r>
            <a:r>
              <a:rPr lang="en-US" sz="1800" b="0" i="0" u="none" strike="noStrike" cap="none" dirty="0" err="1">
                <a:solidFill>
                  <a:schemeClr val="dk2"/>
                </a:solidFill>
              </a:rPr>
              <a:t>paralela</a:t>
            </a:r>
            <a:r>
              <a:rPr lang="en-US" sz="1800" b="0" i="0" u="none" strike="noStrike" cap="none" dirty="0">
                <a:solidFill>
                  <a:schemeClr val="dk2"/>
                </a:solidFill>
              </a:rPr>
              <a:t> </a:t>
            </a:r>
            <a:r>
              <a:rPr lang="en-US" sz="1800" b="0" i="0" u="none" strike="noStrike" cap="none" dirty="0" err="1">
                <a:solidFill>
                  <a:schemeClr val="dk2"/>
                </a:solidFill>
              </a:rPr>
              <a:t>en</a:t>
            </a:r>
            <a:r>
              <a:rPr lang="en-US" sz="1800" b="0" i="0" u="none" strike="noStrike" cap="none" dirty="0">
                <a:solidFill>
                  <a:schemeClr val="dk2"/>
                </a:solidFill>
              </a:rPr>
              <a:t> </a:t>
            </a:r>
            <a:r>
              <a:rPr lang="en-US" sz="1800" b="0" i="0" u="none" strike="noStrike" cap="none" dirty="0" err="1">
                <a:solidFill>
                  <a:schemeClr val="dk2"/>
                </a:solidFill>
              </a:rPr>
              <a:t>otra</a:t>
            </a:r>
            <a:r>
              <a:rPr lang="en-US" sz="1800" b="0" i="0" u="none" strike="noStrike" cap="none" dirty="0">
                <a:solidFill>
                  <a:schemeClr val="dk2"/>
                </a:solidFill>
              </a:rPr>
              <a:t>. </a:t>
            </a:r>
          </a:p>
          <a:p>
            <a:pPr marL="457200" indent="-342900">
              <a:spcAft>
                <a:spcPts val="600"/>
              </a:spcAft>
              <a:buClr>
                <a:schemeClr val="dk2"/>
              </a:buClr>
              <a:buSzPts val="1800"/>
              <a:buFont typeface="Arial"/>
              <a:buChar char="●"/>
            </a:pPr>
            <a:endParaRPr lang="en-US" sz="1800" dirty="0">
              <a:solidFill>
                <a:schemeClr val="dk2"/>
              </a:solidFill>
            </a:endParaRPr>
          </a:p>
          <a:p>
            <a:pPr marL="457200" indent="-342900">
              <a:spcAft>
                <a:spcPts val="60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US" sz="1800" b="0" i="0" u="none" strike="noStrike" cap="none" dirty="0">
                <a:solidFill>
                  <a:schemeClr val="dk2"/>
                </a:solidFill>
              </a:rPr>
              <a:t>De </a:t>
            </a:r>
            <a:r>
              <a:rPr lang="en-US" sz="1800" b="0" i="0" u="none" strike="noStrike" cap="none" dirty="0" err="1">
                <a:solidFill>
                  <a:schemeClr val="dk2"/>
                </a:solidFill>
              </a:rPr>
              <a:t>aquí</a:t>
            </a:r>
            <a:r>
              <a:rPr lang="en-US" sz="1800" b="0" i="0" u="none" strike="noStrike" cap="none" dirty="0">
                <a:solidFill>
                  <a:schemeClr val="dk2"/>
                </a:solidFill>
              </a:rPr>
              <a:t> </a:t>
            </a:r>
            <a:r>
              <a:rPr lang="en-US" sz="1800" b="0" i="0" u="none" strike="noStrike" cap="none" dirty="0" err="1">
                <a:solidFill>
                  <a:schemeClr val="dk2"/>
                </a:solidFill>
              </a:rPr>
              <a:t>queremos</a:t>
            </a:r>
            <a:r>
              <a:rPr lang="en-US" sz="1800" b="0" i="0" u="none" strike="noStrike" cap="none" dirty="0">
                <a:solidFill>
                  <a:schemeClr val="dk2"/>
                </a:solidFill>
              </a:rPr>
              <a:t> pasar a </a:t>
            </a:r>
            <a:r>
              <a:rPr lang="en-US" sz="1800" b="0" i="0" u="none" strike="noStrike" cap="none" dirty="0" err="1">
                <a:solidFill>
                  <a:schemeClr val="dk2"/>
                </a:solidFill>
              </a:rPr>
              <a:t>transformar</a:t>
            </a:r>
            <a:r>
              <a:rPr lang="en-US" sz="1800" b="0" i="0" u="none" strike="noStrike" cap="none" dirty="0">
                <a:solidFill>
                  <a:schemeClr val="dk2"/>
                </a:solidFill>
              </a:rPr>
              <a:t> </a:t>
            </a:r>
            <a:r>
              <a:rPr lang="en-US" sz="1800" b="0" i="0" u="none" strike="noStrike" cap="none" dirty="0" err="1">
                <a:solidFill>
                  <a:schemeClr val="dk2"/>
                </a:solidFill>
              </a:rPr>
              <a:t>los</a:t>
            </a:r>
            <a:r>
              <a:rPr lang="en-US" sz="1800" b="0" i="0" u="none" strike="noStrike" cap="none" dirty="0">
                <a:solidFill>
                  <a:schemeClr val="dk2"/>
                </a:solidFill>
              </a:rPr>
              <a:t> </a:t>
            </a:r>
            <a:r>
              <a:rPr lang="en-US" sz="1800" b="0" i="0" u="none" strike="noStrike" cap="none" dirty="0" err="1">
                <a:solidFill>
                  <a:schemeClr val="dk2"/>
                </a:solidFill>
              </a:rPr>
              <a:t>músculos</a:t>
            </a:r>
            <a:r>
              <a:rPr lang="en-US" sz="1800" b="0" i="0" u="none" strike="noStrike" cap="none" dirty="0">
                <a:solidFill>
                  <a:schemeClr val="dk2"/>
                </a:solidFill>
              </a:rPr>
              <a:t> de un </a:t>
            </a:r>
            <a:r>
              <a:rPr lang="en-US" sz="1800" b="0" i="0" u="none" strike="noStrike" cap="none" dirty="0" err="1">
                <a:solidFill>
                  <a:schemeClr val="dk2"/>
                </a:solidFill>
              </a:rPr>
              <a:t>húmero</a:t>
            </a:r>
            <a:r>
              <a:rPr lang="en-US" sz="1800" b="0" i="0" u="none" strike="noStrike" cap="none" dirty="0">
                <a:solidFill>
                  <a:schemeClr val="dk2"/>
                </a:solidFill>
              </a:rPr>
              <a:t> </a:t>
            </a:r>
            <a:r>
              <a:rPr lang="en-US" sz="1800" b="0" i="0" u="none" strike="noStrike" cap="none" dirty="0" err="1">
                <a:solidFill>
                  <a:schemeClr val="dk2"/>
                </a:solidFill>
              </a:rPr>
              <a:t>en</a:t>
            </a:r>
            <a:r>
              <a:rPr lang="en-US" sz="1800" b="0" i="0" u="none" strike="noStrike" cap="none" dirty="0">
                <a:solidFill>
                  <a:schemeClr val="dk2"/>
                </a:solidFill>
              </a:rPr>
              <a:t> </a:t>
            </a:r>
            <a:r>
              <a:rPr lang="en-US" sz="1800" b="0" i="0" u="none" strike="noStrike" cap="none" dirty="0" err="1">
                <a:solidFill>
                  <a:schemeClr val="dk2"/>
                </a:solidFill>
              </a:rPr>
              <a:t>los</a:t>
            </a:r>
            <a:r>
              <a:rPr lang="en-US" sz="1800" b="0" i="0" u="none" strike="noStrike" cap="none" dirty="0">
                <a:solidFill>
                  <a:schemeClr val="dk2"/>
                </a:solidFill>
              </a:rPr>
              <a:t> </a:t>
            </a:r>
            <a:r>
              <a:rPr lang="en-US" sz="1800" b="0" i="0" u="none" strike="noStrike" cap="none" dirty="0" err="1">
                <a:solidFill>
                  <a:schemeClr val="dk2"/>
                </a:solidFill>
              </a:rPr>
              <a:t>músculos</a:t>
            </a:r>
            <a:r>
              <a:rPr lang="en-US" sz="1800" b="0" i="0" u="none" strike="noStrike" cap="none" dirty="0">
                <a:solidFill>
                  <a:schemeClr val="dk2"/>
                </a:solidFill>
              </a:rPr>
              <a:t> </a:t>
            </a:r>
            <a:r>
              <a:rPr lang="en-US" sz="1800" b="0" i="0" u="none" strike="noStrike" cap="none" dirty="0" err="1">
                <a:solidFill>
                  <a:schemeClr val="dk2"/>
                </a:solidFill>
              </a:rPr>
              <a:t>correspondientes</a:t>
            </a:r>
            <a:r>
              <a:rPr lang="en-US" sz="1800" b="0" i="0" u="none" strike="noStrike" cap="none" dirty="0">
                <a:solidFill>
                  <a:schemeClr val="dk2"/>
                </a:solidFill>
              </a:rPr>
              <a:t> del </a:t>
            </a:r>
            <a:r>
              <a:rPr lang="en-US" sz="1800" b="0" i="0" u="none" strike="noStrike" cap="none" dirty="0" err="1">
                <a:solidFill>
                  <a:schemeClr val="dk2"/>
                </a:solidFill>
              </a:rPr>
              <a:t>otro</a:t>
            </a:r>
            <a:r>
              <a:rPr lang="en-US" sz="1800" b="0" i="0" u="none" strike="noStrike" cap="none" dirty="0">
                <a:solidFill>
                  <a:schemeClr val="dk2"/>
                </a:solidFill>
              </a:rPr>
              <a:t>. </a:t>
            </a:r>
            <a:endParaRPr lang="en-US" sz="1800" b="0" i="0" u="none" strike="noStrike" cap="none" baseline="30000" dirty="0">
              <a:solidFill>
                <a:schemeClr val="dk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C4FE8D-271F-F740-CE67-724E107054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571" r="4" b="2368"/>
          <a:stretch>
            <a:fillRect/>
          </a:stretch>
        </p:blipFill>
        <p:spPr>
          <a:xfrm>
            <a:off x="311700" y="1152475"/>
            <a:ext cx="4504140" cy="36945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60429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A24D42-102D-108C-A0E2-6147A150C4B0}"/>
              </a:ext>
            </a:extLst>
          </p:cNvPr>
          <p:cNvSpPr txBox="1"/>
          <p:nvPr/>
        </p:nvSpPr>
        <p:spPr>
          <a:xfrm>
            <a:off x="311700" y="968957"/>
            <a:ext cx="8520600" cy="386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Aproximamos</a:t>
            </a:r>
            <a:r>
              <a:rPr lang="en-US" dirty="0"/>
              <a:t> la </a:t>
            </a:r>
            <a:r>
              <a:rPr lang="en-US" dirty="0" err="1"/>
              <a:t>superficie</a:t>
            </a:r>
            <a:r>
              <a:rPr lang="en-US" dirty="0"/>
              <a:t> articular con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esfera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Calculamos</a:t>
            </a:r>
            <a:r>
              <a:rPr lang="en-US" dirty="0"/>
              <a:t> el </a:t>
            </a:r>
            <a:r>
              <a:rPr lang="en-US" dirty="0" err="1"/>
              <a:t>eje</a:t>
            </a:r>
            <a:r>
              <a:rPr lang="en-US" dirty="0"/>
              <a:t> del </a:t>
            </a:r>
            <a:r>
              <a:rPr lang="en-US" dirty="0" err="1"/>
              <a:t>húmero</a:t>
            </a:r>
            <a:r>
              <a:rPr lang="en-US" dirty="0"/>
              <a:t>, </a:t>
            </a:r>
            <a:r>
              <a:rPr lang="en-US" dirty="0" err="1"/>
              <a:t>intersecta</a:t>
            </a:r>
            <a:r>
              <a:rPr lang="en-US" dirty="0"/>
              <a:t> la </a:t>
            </a:r>
            <a:r>
              <a:rPr lang="en-US" dirty="0" err="1"/>
              <a:t>esfera</a:t>
            </a:r>
            <a:r>
              <a:rPr lang="en-US" dirty="0"/>
              <a:t> articular. </a:t>
            </a:r>
          </a:p>
          <a:p>
            <a:pPr>
              <a:lnSpc>
                <a:spcPct val="150000"/>
              </a:lnSpc>
            </a:pP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92D050"/>
                </a:solidFill>
              </a:rPr>
              <a:t>Meta 1</a:t>
            </a:r>
            <a:r>
              <a:rPr lang="en-US" dirty="0"/>
              <a:t>: </a:t>
            </a:r>
            <a:r>
              <a:rPr lang="en-US" dirty="0" err="1"/>
              <a:t>Calcular</a:t>
            </a:r>
            <a:r>
              <a:rPr lang="en-US" dirty="0"/>
              <a:t> la </a:t>
            </a:r>
            <a:r>
              <a:rPr lang="en-US" dirty="0" err="1"/>
              <a:t>esfera</a:t>
            </a:r>
            <a:r>
              <a:rPr lang="en-US" dirty="0"/>
              <a:t> </a:t>
            </a:r>
            <a:r>
              <a:rPr lang="en-US" dirty="0" err="1"/>
              <a:t>aproximante</a:t>
            </a:r>
            <a:r>
              <a:rPr lang="en-US" dirty="0"/>
              <a:t> a la </a:t>
            </a:r>
            <a:r>
              <a:rPr lang="en-US" dirty="0" err="1"/>
              <a:t>superficie</a:t>
            </a:r>
            <a:r>
              <a:rPr lang="en-US" dirty="0"/>
              <a:t> articular a </a:t>
            </a:r>
            <a:r>
              <a:rPr lang="en-US" dirty="0" err="1"/>
              <a:t>partir</a:t>
            </a:r>
            <a:r>
              <a:rPr lang="en-US" dirty="0"/>
              <a:t> de </a:t>
            </a:r>
            <a:r>
              <a:rPr lang="en-US" dirty="0" err="1"/>
              <a:t>tomografía</a:t>
            </a:r>
            <a:r>
              <a:rPr lang="en-US" dirty="0"/>
              <a:t>/</a:t>
            </a:r>
            <a:r>
              <a:rPr lang="en-US" dirty="0" err="1"/>
              <a:t>resonancia</a:t>
            </a:r>
            <a:r>
              <a:rPr lang="en-US" dirty="0"/>
              <a:t> de un </a:t>
            </a:r>
            <a:r>
              <a:rPr lang="en-US" dirty="0" err="1"/>
              <a:t>paciente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Consideramos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archivos</a:t>
            </a:r>
            <a:r>
              <a:rPr lang="en-US" dirty="0"/>
              <a:t> .</a:t>
            </a:r>
            <a:r>
              <a:rPr lang="en-US" dirty="0" err="1"/>
              <a:t>stl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músculos</a:t>
            </a:r>
            <a:r>
              <a:rPr lang="en-US" dirty="0"/>
              <a:t> (</a:t>
            </a:r>
            <a:r>
              <a:rPr lang="en-US" dirty="0" err="1"/>
              <a:t>infraespinatus</a:t>
            </a:r>
            <a:r>
              <a:rPr lang="en-US" dirty="0"/>
              <a:t>, </a:t>
            </a:r>
            <a:r>
              <a:rPr lang="en-US" dirty="0" err="1"/>
              <a:t>supraespinatus</a:t>
            </a:r>
            <a:r>
              <a:rPr lang="en-US" dirty="0"/>
              <a:t>, etc.) y el .</a:t>
            </a:r>
            <a:r>
              <a:rPr lang="en-US" dirty="0" err="1"/>
              <a:t>stl</a:t>
            </a:r>
            <a:r>
              <a:rPr lang="en-US" dirty="0"/>
              <a:t> del </a:t>
            </a:r>
            <a:r>
              <a:rPr lang="en-US" dirty="0" err="1"/>
              <a:t>húmero</a:t>
            </a:r>
            <a:r>
              <a:rPr lang="en-US" dirty="0"/>
              <a:t> de </a:t>
            </a:r>
            <a:r>
              <a:rPr lang="en-US" dirty="0" err="1"/>
              <a:t>referencia</a:t>
            </a:r>
            <a:r>
              <a:rPr lang="en-US" dirty="0"/>
              <a:t>: </a:t>
            </a:r>
            <a:r>
              <a:rPr lang="en-US" dirty="0" err="1"/>
              <a:t>Calculamos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esfera</a:t>
            </a:r>
            <a:r>
              <a:rPr lang="en-US" dirty="0"/>
              <a:t> </a:t>
            </a:r>
            <a:r>
              <a:rPr lang="en-US" dirty="0" err="1"/>
              <a:t>aproximante</a:t>
            </a:r>
            <a:r>
              <a:rPr lang="en-US" dirty="0"/>
              <a:t> y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eje</a:t>
            </a:r>
            <a:r>
              <a:rPr lang="en-U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92D050"/>
                </a:solidFill>
              </a:rPr>
              <a:t>Meta 2</a:t>
            </a:r>
            <a:r>
              <a:rPr lang="en-US" dirty="0"/>
              <a:t>: A </a:t>
            </a:r>
            <a:r>
              <a:rPr lang="en-US" dirty="0" err="1"/>
              <a:t>partir</a:t>
            </a:r>
            <a:r>
              <a:rPr lang="en-US" dirty="0"/>
              <a:t> de la </a:t>
            </a:r>
            <a:r>
              <a:rPr lang="en-US" dirty="0" err="1"/>
              <a:t>esfera</a:t>
            </a:r>
            <a:r>
              <a:rPr lang="en-US" dirty="0"/>
              <a:t>/</a:t>
            </a:r>
            <a:r>
              <a:rPr lang="en-US" dirty="0" err="1"/>
              <a:t>eje</a:t>
            </a:r>
            <a:r>
              <a:rPr lang="en-US" dirty="0"/>
              <a:t> del </a:t>
            </a:r>
            <a:r>
              <a:rPr lang="en-US" dirty="0" err="1"/>
              <a:t>húmero</a:t>
            </a:r>
            <a:r>
              <a:rPr lang="en-US" dirty="0"/>
              <a:t> de </a:t>
            </a:r>
            <a:r>
              <a:rPr lang="en-US" dirty="0" err="1"/>
              <a:t>referencia</a:t>
            </a:r>
            <a:r>
              <a:rPr lang="en-US" dirty="0"/>
              <a:t> y la </a:t>
            </a:r>
            <a:r>
              <a:rPr lang="en-US" dirty="0" err="1"/>
              <a:t>esfera</a:t>
            </a:r>
            <a:r>
              <a:rPr lang="en-US" dirty="0"/>
              <a:t>/</a:t>
            </a:r>
            <a:r>
              <a:rPr lang="en-US" dirty="0" err="1"/>
              <a:t>eje</a:t>
            </a:r>
            <a:r>
              <a:rPr lang="en-US" dirty="0"/>
              <a:t> del </a:t>
            </a:r>
            <a:r>
              <a:rPr lang="en-US" dirty="0" err="1"/>
              <a:t>húmero</a:t>
            </a:r>
            <a:r>
              <a:rPr lang="en-US" dirty="0"/>
              <a:t> del </a:t>
            </a:r>
            <a:r>
              <a:rPr lang="en-US" dirty="0" err="1"/>
              <a:t>paciente</a:t>
            </a:r>
            <a:r>
              <a:rPr lang="en-US" dirty="0"/>
              <a:t> (</a:t>
            </a:r>
            <a:r>
              <a:rPr lang="en-US" dirty="0" err="1"/>
              <a:t>obtenida</a:t>
            </a:r>
            <a:r>
              <a:rPr lang="en-US" dirty="0"/>
              <a:t> de la </a:t>
            </a:r>
            <a:r>
              <a:rPr lang="en-US" dirty="0" err="1"/>
              <a:t>tomografía</a:t>
            </a:r>
            <a:r>
              <a:rPr lang="en-US" dirty="0"/>
              <a:t> o </a:t>
            </a:r>
            <a:r>
              <a:rPr lang="en-US" dirty="0" err="1"/>
              <a:t>resonancia</a:t>
            </a:r>
            <a:r>
              <a:rPr lang="en-US" dirty="0"/>
              <a:t>) </a:t>
            </a:r>
            <a:r>
              <a:rPr lang="en-US" dirty="0" err="1"/>
              <a:t>calcular</a:t>
            </a:r>
            <a:r>
              <a:rPr lang="en-US" dirty="0"/>
              <a:t> la </a:t>
            </a:r>
            <a:r>
              <a:rPr lang="en-US" dirty="0" err="1"/>
              <a:t>transformación</a:t>
            </a:r>
            <a:r>
              <a:rPr lang="en-US" dirty="0"/>
              <a:t> de O(3,1)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lleva</a:t>
            </a:r>
            <a:r>
              <a:rPr lang="en-US" dirty="0"/>
              <a:t> un par </a:t>
            </a:r>
            <a:r>
              <a:rPr lang="en-US" dirty="0" err="1"/>
              <a:t>esfera</a:t>
            </a:r>
            <a:r>
              <a:rPr lang="en-US" dirty="0"/>
              <a:t>/recta </a:t>
            </a:r>
            <a:r>
              <a:rPr lang="en-US" dirty="0" err="1"/>
              <a:t>en</a:t>
            </a:r>
            <a:r>
              <a:rPr lang="en-US" dirty="0"/>
              <a:t> el </a:t>
            </a:r>
            <a:r>
              <a:rPr lang="en-US" dirty="0" err="1"/>
              <a:t>otro</a:t>
            </a:r>
            <a:r>
              <a:rPr lang="en-US" dirty="0"/>
              <a:t>. Esta </a:t>
            </a:r>
            <a:r>
              <a:rPr lang="en-US" dirty="0" err="1"/>
              <a:t>transformación</a:t>
            </a:r>
            <a:r>
              <a:rPr lang="en-US" dirty="0"/>
              <a:t> se </a:t>
            </a:r>
            <a:r>
              <a:rPr lang="en-US" dirty="0" err="1"/>
              <a:t>calcula</a:t>
            </a:r>
            <a:r>
              <a:rPr lang="en-US" dirty="0"/>
              <a:t> </a:t>
            </a:r>
            <a:r>
              <a:rPr lang="en-US" dirty="0" err="1"/>
              <a:t>aplicando</a:t>
            </a:r>
            <a:r>
              <a:rPr lang="en-US" dirty="0"/>
              <a:t> la </a:t>
            </a:r>
            <a:r>
              <a:rPr lang="en-US" dirty="0" err="1"/>
              <a:t>similaridad</a:t>
            </a:r>
            <a:r>
              <a:rPr lang="en-US" dirty="0"/>
              <a:t> T(x) = (</a:t>
            </a:r>
            <a:r>
              <a:rPr lang="en-US" dirty="0" err="1"/>
              <a:t>sR</a:t>
            </a:r>
            <a:r>
              <a:rPr lang="en-US" dirty="0"/>
              <a:t>)x +b,    s = </a:t>
            </a:r>
            <a:r>
              <a:rPr lang="en-US" dirty="0" err="1"/>
              <a:t>dilatacion</a:t>
            </a:r>
            <a:r>
              <a:rPr lang="en-US" dirty="0"/>
              <a:t>, R = </a:t>
            </a:r>
            <a:r>
              <a:rPr lang="en-US" dirty="0" err="1"/>
              <a:t>rotación</a:t>
            </a:r>
            <a:r>
              <a:rPr lang="en-US" dirty="0"/>
              <a:t>,  b = </a:t>
            </a:r>
            <a:r>
              <a:rPr lang="en-US" dirty="0" err="1"/>
              <a:t>desplazamiento</a:t>
            </a:r>
            <a:r>
              <a:rPr lang="en-US" dirty="0"/>
              <a:t>,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envia</a:t>
            </a:r>
            <a:r>
              <a:rPr lang="en-US" dirty="0"/>
              <a:t> la </a:t>
            </a:r>
            <a:r>
              <a:rPr lang="en-US" dirty="0" err="1"/>
              <a:t>esfera</a:t>
            </a:r>
            <a:r>
              <a:rPr lang="en-US" dirty="0"/>
              <a:t> </a:t>
            </a:r>
            <a:r>
              <a:rPr lang="en-US" dirty="0" err="1"/>
              <a:t>aproximante</a:t>
            </a:r>
            <a:r>
              <a:rPr lang="en-US" dirty="0"/>
              <a:t> al </a:t>
            </a:r>
            <a:r>
              <a:rPr lang="en-US" dirty="0" err="1"/>
              <a:t>húmero</a:t>
            </a:r>
            <a:r>
              <a:rPr lang="en-US" dirty="0"/>
              <a:t> standard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esfera</a:t>
            </a:r>
            <a:r>
              <a:rPr lang="en-US" dirty="0"/>
              <a:t> del </a:t>
            </a:r>
            <a:r>
              <a:rPr lang="en-US" dirty="0" err="1"/>
              <a:t>húmero</a:t>
            </a:r>
            <a:r>
              <a:rPr lang="en-US" dirty="0"/>
              <a:t> del </a:t>
            </a:r>
            <a:r>
              <a:rPr lang="en-US" dirty="0" err="1"/>
              <a:t>paciente</a:t>
            </a:r>
            <a:r>
              <a:rPr lang="en-US" dirty="0"/>
              <a:t> (</a:t>
            </a:r>
            <a:r>
              <a:rPr lang="en-US" dirty="0" err="1"/>
              <a:t>calculada</a:t>
            </a:r>
            <a:r>
              <a:rPr lang="en-US" dirty="0"/>
              <a:t> con CT o MRI) y el </a:t>
            </a:r>
            <a:r>
              <a:rPr lang="en-US" dirty="0" err="1"/>
              <a:t>eje</a:t>
            </a:r>
            <a:r>
              <a:rPr lang="en-US" dirty="0"/>
              <a:t> standard </a:t>
            </a:r>
            <a:r>
              <a:rPr lang="en-US" dirty="0" err="1"/>
              <a:t>en</a:t>
            </a:r>
            <a:r>
              <a:rPr lang="en-US" dirty="0"/>
              <a:t> el </a:t>
            </a:r>
            <a:r>
              <a:rPr lang="en-US" dirty="0" err="1"/>
              <a:t>eje</a:t>
            </a:r>
            <a:r>
              <a:rPr lang="en-US" dirty="0"/>
              <a:t> del </a:t>
            </a:r>
            <a:r>
              <a:rPr lang="en-US" dirty="0" err="1"/>
              <a:t>paciente</a:t>
            </a:r>
            <a:r>
              <a:rPr lang="en-U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92D050"/>
                </a:solidFill>
              </a:rPr>
              <a:t>Meta 3</a:t>
            </a:r>
            <a:r>
              <a:rPr lang="en-US" dirty="0"/>
              <a:t>: </a:t>
            </a:r>
            <a:r>
              <a:rPr lang="en-US" dirty="0" err="1"/>
              <a:t>Implementar</a:t>
            </a:r>
            <a:r>
              <a:rPr lang="en-US" dirty="0"/>
              <a:t> el </a:t>
            </a:r>
            <a:r>
              <a:rPr lang="en-US" dirty="0" err="1"/>
              <a:t>mapeo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músculos</a:t>
            </a:r>
            <a:r>
              <a:rPr lang="en-US" dirty="0"/>
              <a:t>, dados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archivos</a:t>
            </a:r>
            <a:r>
              <a:rPr lang="en-US" dirty="0"/>
              <a:t> .</a:t>
            </a:r>
            <a:r>
              <a:rPr lang="en-US" dirty="0" err="1"/>
              <a:t>stl</a:t>
            </a:r>
            <a:r>
              <a:rPr lang="en-US" dirty="0"/>
              <a:t> del standard al </a:t>
            </a:r>
            <a:r>
              <a:rPr lang="en-US" dirty="0" err="1"/>
              <a:t>paciente</a:t>
            </a:r>
            <a:r>
              <a:rPr lang="en-US" dirty="0"/>
              <a:t>.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F3B24FA-4E3D-7034-6EE4-9E47D8E07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Resumen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1085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79F5D-14B6-AB05-EFE7-3A8F10828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B7B331-6F0A-50BA-A6C0-DA2597A50358}"/>
              </a:ext>
            </a:extLst>
          </p:cNvPr>
          <p:cNvSpPr txBox="1"/>
          <p:nvPr/>
        </p:nvSpPr>
        <p:spPr>
          <a:xfrm>
            <a:off x="311700" y="968957"/>
            <a:ext cx="8520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</a:t>
            </a:r>
            <a:r>
              <a:rPr lang="en-US" dirty="0" err="1"/>
              <a:t>siempre</a:t>
            </a:r>
            <a:r>
              <a:rPr lang="en-US" dirty="0"/>
              <a:t> se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transformar</a:t>
            </a:r>
            <a:r>
              <a:rPr lang="en-US" dirty="0"/>
              <a:t> con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similaridad</a:t>
            </a:r>
            <a:r>
              <a:rPr lang="en-US" dirty="0"/>
              <a:t> un par </a:t>
            </a:r>
            <a:r>
              <a:rPr lang="en-US" dirty="0" err="1"/>
              <a:t>intersectante</a:t>
            </a:r>
            <a:r>
              <a:rPr lang="en-US" dirty="0"/>
              <a:t> </a:t>
            </a:r>
            <a:r>
              <a:rPr lang="en-US" dirty="0" err="1"/>
              <a:t>esfera</a:t>
            </a:r>
            <a:r>
              <a:rPr lang="en-US" dirty="0"/>
              <a:t> /recta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otro</a:t>
            </a:r>
            <a:r>
              <a:rPr lang="en-US" dirty="0"/>
              <a:t> par </a:t>
            </a:r>
            <a:r>
              <a:rPr lang="en-US" dirty="0" err="1"/>
              <a:t>esfera</a:t>
            </a:r>
            <a:r>
              <a:rPr lang="en-US" dirty="0"/>
              <a:t>/recta también </a:t>
            </a:r>
            <a:r>
              <a:rPr lang="en-US" dirty="0" err="1"/>
              <a:t>intersectante</a:t>
            </a:r>
            <a:r>
              <a:rPr lang="en-US" dirty="0"/>
              <a:t>. Para </a:t>
            </a:r>
            <a:r>
              <a:rPr lang="en-US" dirty="0" err="1"/>
              <a:t>eso</a:t>
            </a:r>
            <a:r>
              <a:rPr lang="en-US" dirty="0"/>
              <a:t> </a:t>
            </a:r>
            <a:r>
              <a:rPr lang="en-US" dirty="0" err="1"/>
              <a:t>introdujimos</a:t>
            </a:r>
            <a:r>
              <a:rPr lang="en-US" dirty="0"/>
              <a:t> O(3,1).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r>
              <a:rPr lang="en-US" dirty="0">
                <a:solidFill>
                  <a:schemeClr val="accent1"/>
                </a:solidFill>
              </a:rPr>
              <a:t>Ejercicio (vale doble)</a:t>
            </a:r>
            <a:r>
              <a:rPr lang="en-US" dirty="0"/>
              <a:t>: Busque un </a:t>
            </a:r>
            <a:r>
              <a:rPr lang="en-US" dirty="0" err="1"/>
              <a:t>ejemplo</a:t>
            </a:r>
            <a:r>
              <a:rPr lang="en-US" dirty="0"/>
              <a:t> de dos pares </a:t>
            </a:r>
            <a:r>
              <a:rPr lang="en-US" dirty="0" err="1"/>
              <a:t>intersectantes</a:t>
            </a:r>
            <a:r>
              <a:rPr lang="en-US" dirty="0"/>
              <a:t> </a:t>
            </a:r>
            <a:r>
              <a:rPr lang="en-US" dirty="0" err="1"/>
              <a:t>esfera</a:t>
            </a:r>
            <a:r>
              <a:rPr lang="en-US" dirty="0"/>
              <a:t> /recta tales </a:t>
            </a:r>
            <a:r>
              <a:rPr lang="en-US" dirty="0" err="1"/>
              <a:t>que</a:t>
            </a:r>
            <a:r>
              <a:rPr lang="en-US" dirty="0"/>
              <a:t> no se </a:t>
            </a:r>
            <a:r>
              <a:rPr lang="en-US" dirty="0" err="1"/>
              <a:t>pueda</a:t>
            </a:r>
            <a:r>
              <a:rPr lang="en-US" dirty="0"/>
              <a:t> </a:t>
            </a:r>
            <a:r>
              <a:rPr lang="en-US" dirty="0" err="1"/>
              <a:t>transformar</a:t>
            </a:r>
            <a:r>
              <a:rPr lang="en-US" dirty="0"/>
              <a:t> uno </a:t>
            </a:r>
            <a:r>
              <a:rPr lang="en-US" dirty="0" err="1"/>
              <a:t>en</a:t>
            </a:r>
            <a:r>
              <a:rPr lang="en-US" dirty="0"/>
              <a:t> el </a:t>
            </a:r>
            <a:r>
              <a:rPr lang="en-US" dirty="0" err="1"/>
              <a:t>otro</a:t>
            </a:r>
            <a:r>
              <a:rPr lang="en-US" dirty="0"/>
              <a:t> con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similaridad</a:t>
            </a:r>
            <a:r>
              <a:rPr lang="en-US" dirty="0"/>
              <a:t>. </a:t>
            </a:r>
            <a:r>
              <a:rPr lang="en-US" dirty="0" err="1"/>
              <a:t>Verifique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para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ejemplo</a:t>
            </a:r>
            <a:r>
              <a:rPr lang="en-US" dirty="0"/>
              <a:t>,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existe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similaridad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envía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esfera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otra</a:t>
            </a:r>
            <a:r>
              <a:rPr lang="en-US" dirty="0"/>
              <a:t> y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manda</a:t>
            </a:r>
            <a:r>
              <a:rPr lang="en-US" dirty="0"/>
              <a:t> la recta del primer par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recta </a:t>
            </a:r>
            <a:r>
              <a:rPr lang="en-US" dirty="0" err="1"/>
              <a:t>paralela</a:t>
            </a:r>
            <a:r>
              <a:rPr lang="en-US" dirty="0"/>
              <a:t> a la recta del </a:t>
            </a:r>
            <a:r>
              <a:rPr lang="en-US" dirty="0" err="1"/>
              <a:t>segundo</a:t>
            </a:r>
            <a:r>
              <a:rPr lang="en-US" dirty="0"/>
              <a:t> par.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 </a:t>
            </a:r>
            <a:r>
              <a:rPr lang="en-US" dirty="0" err="1"/>
              <a:t>ejemplo</a:t>
            </a:r>
            <a:r>
              <a:rPr lang="en-US" dirty="0"/>
              <a:t> </a:t>
            </a:r>
            <a:r>
              <a:rPr lang="en-US" dirty="0" err="1"/>
              <a:t>relacionado</a:t>
            </a:r>
            <a:r>
              <a:rPr lang="en-US" dirty="0"/>
              <a:t> lo </a:t>
            </a:r>
            <a:r>
              <a:rPr lang="en-US" dirty="0" err="1"/>
              <a:t>vimos</a:t>
            </a:r>
            <a:r>
              <a:rPr lang="en-US" dirty="0"/>
              <a:t>, un </a:t>
            </a:r>
            <a:r>
              <a:rPr lang="en-US" dirty="0" err="1"/>
              <a:t>elemento</a:t>
            </a:r>
            <a:r>
              <a:rPr lang="en-US" dirty="0"/>
              <a:t> de O(3,1)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transforma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esfera</a:t>
            </a:r>
            <a:r>
              <a:rPr lang="en-US" dirty="0"/>
              <a:t> de radio 5 </a:t>
            </a:r>
            <a:r>
              <a:rPr lang="en-US" dirty="0" err="1"/>
              <a:t>centrada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el </a:t>
            </a:r>
            <a:r>
              <a:rPr lang="en-US" dirty="0" err="1"/>
              <a:t>origen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misma</a:t>
            </a:r>
            <a:r>
              <a:rPr lang="en-US" dirty="0"/>
              <a:t> y </a:t>
            </a:r>
            <a:r>
              <a:rPr lang="en-US" dirty="0" err="1"/>
              <a:t>envia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recta </a:t>
            </a:r>
            <a:r>
              <a:rPr lang="en-US" dirty="0" err="1">
                <a:solidFill>
                  <a:srgbClr val="FF0000"/>
                </a:solidFill>
              </a:rPr>
              <a:t>roja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otra</a:t>
            </a:r>
            <a:r>
              <a:rPr lang="en-US" dirty="0"/>
              <a:t> recta </a:t>
            </a:r>
            <a:r>
              <a:rPr lang="en-US" dirty="0" err="1">
                <a:solidFill>
                  <a:srgbClr val="0070C0"/>
                </a:solidFill>
              </a:rPr>
              <a:t>azul</a:t>
            </a:r>
            <a:r>
              <a:rPr lang="en-US" dirty="0"/>
              <a:t>. Ambas </a:t>
            </a:r>
            <a:r>
              <a:rPr lang="en-US" dirty="0" err="1"/>
              <a:t>rectas</a:t>
            </a:r>
            <a:r>
              <a:rPr lang="en-US" dirty="0"/>
              <a:t> </a:t>
            </a:r>
            <a:r>
              <a:rPr lang="en-US" dirty="0" err="1"/>
              <a:t>viven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 un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pasa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el </a:t>
            </a:r>
            <a:r>
              <a:rPr lang="en-US" dirty="0" err="1"/>
              <a:t>centro</a:t>
            </a:r>
            <a:r>
              <a:rPr lang="en-US" dirty="0"/>
              <a:t> de la </a:t>
            </a:r>
            <a:r>
              <a:rPr lang="en-US" dirty="0" err="1"/>
              <a:t>esfera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Nuestro </a:t>
            </a:r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ahora</a:t>
            </a:r>
            <a:r>
              <a:rPr lang="en-US" dirty="0"/>
              <a:t> es </a:t>
            </a:r>
            <a:r>
              <a:rPr lang="en-US" dirty="0" err="1"/>
              <a:t>diferente</a:t>
            </a:r>
            <a:r>
              <a:rPr lang="en-US" dirty="0"/>
              <a:t> (</a:t>
            </a:r>
            <a:r>
              <a:rPr lang="en-US" dirty="0" err="1"/>
              <a:t>pero</a:t>
            </a:r>
            <a:r>
              <a:rPr lang="en-US" dirty="0"/>
              <a:t> </a:t>
            </a:r>
            <a:r>
              <a:rPr lang="en-US" dirty="0" err="1"/>
              <a:t>muy</a:t>
            </a:r>
            <a:r>
              <a:rPr lang="en-US" dirty="0"/>
              <a:t> </a:t>
            </a:r>
            <a:r>
              <a:rPr lang="en-US" dirty="0" err="1"/>
              <a:t>relacionado</a:t>
            </a:r>
            <a:r>
              <a:rPr lang="en-US" dirty="0"/>
              <a:t>), </a:t>
            </a:r>
            <a:r>
              <a:rPr lang="en-US" dirty="0" err="1"/>
              <a:t>queremos</a:t>
            </a:r>
            <a:r>
              <a:rPr lang="en-US" dirty="0"/>
              <a:t> </a:t>
            </a:r>
            <a:r>
              <a:rPr lang="en-US" dirty="0" err="1"/>
              <a:t>transformar</a:t>
            </a:r>
            <a:r>
              <a:rPr lang="en-US" dirty="0"/>
              <a:t> un </a:t>
            </a:r>
            <a:r>
              <a:rPr lang="en-US" dirty="0" err="1"/>
              <a:t>húmero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otro</a:t>
            </a:r>
            <a:r>
              <a:rPr lang="en-US" dirty="0"/>
              <a:t> – </a:t>
            </a:r>
            <a:r>
              <a:rPr lang="en-US" dirty="0" err="1"/>
              <a:t>construyendo</a:t>
            </a:r>
            <a:r>
              <a:rPr lang="en-US" dirty="0"/>
              <a:t> un </a:t>
            </a:r>
            <a:r>
              <a:rPr lang="en-US" dirty="0" err="1"/>
              <a:t>elemento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O(3,1)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lleva</a:t>
            </a:r>
            <a:r>
              <a:rPr lang="en-US" dirty="0"/>
              <a:t> el par </a:t>
            </a:r>
            <a:r>
              <a:rPr lang="en-US" dirty="0" err="1"/>
              <a:t>esfera</a:t>
            </a:r>
            <a:r>
              <a:rPr lang="en-US" dirty="0"/>
              <a:t>/</a:t>
            </a:r>
            <a:r>
              <a:rPr lang="en-US" dirty="0" err="1"/>
              <a:t>eje</a:t>
            </a:r>
            <a:r>
              <a:rPr lang="en-US" dirty="0"/>
              <a:t> del </a:t>
            </a:r>
            <a:r>
              <a:rPr lang="en-US" dirty="0" err="1"/>
              <a:t>húmero</a:t>
            </a:r>
            <a:r>
              <a:rPr lang="en-US" dirty="0"/>
              <a:t> standard </a:t>
            </a:r>
            <a:r>
              <a:rPr lang="en-US" dirty="0" err="1"/>
              <a:t>en</a:t>
            </a:r>
            <a:r>
              <a:rPr lang="en-US" dirty="0"/>
              <a:t> el par </a:t>
            </a:r>
            <a:r>
              <a:rPr lang="en-US" dirty="0" err="1"/>
              <a:t>esfera</a:t>
            </a:r>
            <a:r>
              <a:rPr lang="en-US" dirty="0"/>
              <a:t>/</a:t>
            </a:r>
            <a:r>
              <a:rPr lang="en-US" dirty="0" err="1"/>
              <a:t>eje</a:t>
            </a:r>
            <a:r>
              <a:rPr lang="en-US" dirty="0"/>
              <a:t> del </a:t>
            </a:r>
            <a:r>
              <a:rPr lang="en-US" dirty="0" err="1"/>
              <a:t>paciente</a:t>
            </a:r>
            <a:r>
              <a:rPr lang="en-US" dirty="0"/>
              <a:t>. El </a:t>
            </a:r>
            <a:r>
              <a:rPr lang="en-US" dirty="0" err="1"/>
              <a:t>húmero</a:t>
            </a:r>
            <a:r>
              <a:rPr lang="en-US" dirty="0"/>
              <a:t> standard lo </a:t>
            </a:r>
            <a:r>
              <a:rPr lang="en-US" dirty="0" err="1"/>
              <a:t>tenemos</a:t>
            </a:r>
            <a:r>
              <a:rPr lang="en-US" dirty="0"/>
              <a:t> via un </a:t>
            </a:r>
            <a:r>
              <a:rPr lang="en-US" dirty="0" err="1"/>
              <a:t>archivo</a:t>
            </a:r>
            <a:r>
              <a:rPr lang="en-US" dirty="0"/>
              <a:t> .</a:t>
            </a:r>
            <a:r>
              <a:rPr lang="en-US" dirty="0" err="1"/>
              <a:t>stl</a:t>
            </a:r>
            <a:r>
              <a:rPr lang="en-US" dirty="0"/>
              <a:t> del </a:t>
            </a:r>
            <a:r>
              <a:rPr lang="en-US" dirty="0" err="1"/>
              <a:t>cual</a:t>
            </a:r>
            <a:r>
              <a:rPr lang="en-US" dirty="0"/>
              <a:t> </a:t>
            </a:r>
            <a:r>
              <a:rPr lang="en-US" dirty="0" err="1"/>
              <a:t>derivamos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par </a:t>
            </a:r>
            <a:r>
              <a:rPr lang="en-US" dirty="0" err="1"/>
              <a:t>esfera</a:t>
            </a:r>
            <a:r>
              <a:rPr lang="en-US" dirty="0"/>
              <a:t>/</a:t>
            </a:r>
            <a:r>
              <a:rPr lang="en-US" dirty="0" err="1"/>
              <a:t>eje</a:t>
            </a:r>
            <a:r>
              <a:rPr lang="en-US" dirty="0"/>
              <a:t> y del </a:t>
            </a:r>
            <a:r>
              <a:rPr lang="en-US" dirty="0" err="1"/>
              <a:t>humero</a:t>
            </a:r>
            <a:r>
              <a:rPr lang="en-US" dirty="0"/>
              <a:t> del </a:t>
            </a:r>
            <a:r>
              <a:rPr lang="en-US" dirty="0" err="1"/>
              <a:t>paciente</a:t>
            </a:r>
            <a:r>
              <a:rPr lang="en-US" dirty="0"/>
              <a:t> no </a:t>
            </a:r>
            <a:r>
              <a:rPr lang="en-US" dirty="0" err="1"/>
              <a:t>tenemos</a:t>
            </a:r>
            <a:r>
              <a:rPr lang="en-US" dirty="0"/>
              <a:t> un </a:t>
            </a:r>
            <a:r>
              <a:rPr lang="en-US" dirty="0" err="1"/>
              <a:t>achivo</a:t>
            </a:r>
            <a:r>
              <a:rPr lang="en-US" dirty="0"/>
              <a:t> </a:t>
            </a:r>
            <a:r>
              <a:rPr lang="en-US" dirty="0" err="1"/>
              <a:t>stl</a:t>
            </a:r>
            <a:r>
              <a:rPr lang="en-US" dirty="0"/>
              <a:t> (</a:t>
            </a:r>
            <a:r>
              <a:rPr lang="en-US" dirty="0">
                <a:solidFill>
                  <a:schemeClr val="bg2"/>
                </a:solidFill>
              </a:rPr>
              <a:t>se </a:t>
            </a:r>
            <a:r>
              <a:rPr lang="en-US" dirty="0" err="1">
                <a:solidFill>
                  <a:schemeClr val="bg2"/>
                </a:solidFill>
              </a:rPr>
              <a:t>podría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intentar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construir</a:t>
            </a:r>
            <a:r>
              <a:rPr lang="en-US" dirty="0">
                <a:solidFill>
                  <a:schemeClr val="bg2"/>
                </a:solidFill>
              </a:rPr>
              <a:t>, </a:t>
            </a:r>
            <a:r>
              <a:rPr lang="en-US" dirty="0" err="1">
                <a:solidFill>
                  <a:schemeClr val="bg2"/>
                </a:solidFill>
              </a:rPr>
              <a:t>pero</a:t>
            </a:r>
            <a:r>
              <a:rPr lang="en-US" dirty="0">
                <a:solidFill>
                  <a:schemeClr val="bg2"/>
                </a:solidFill>
              </a:rPr>
              <a:t> no </a:t>
            </a:r>
            <a:r>
              <a:rPr lang="en-US" dirty="0" err="1">
                <a:solidFill>
                  <a:schemeClr val="bg2"/>
                </a:solidFill>
              </a:rPr>
              <a:t>hace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falta</a:t>
            </a:r>
            <a:r>
              <a:rPr lang="en-US" dirty="0"/>
              <a:t>). Lo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tenemos</a:t>
            </a:r>
            <a:r>
              <a:rPr lang="en-US" dirty="0"/>
              <a:t> del </a:t>
            </a:r>
            <a:r>
              <a:rPr lang="en-US" dirty="0" err="1"/>
              <a:t>paciente</a:t>
            </a:r>
            <a:r>
              <a:rPr lang="en-US" dirty="0"/>
              <a:t> es un MRI o un CT de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hombro</a:t>
            </a:r>
            <a:r>
              <a:rPr lang="en-US" dirty="0"/>
              <a:t>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AC22E7B-54B4-C0AE-190E-7E86784D0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Pero hay un </a:t>
            </a:r>
            <a:r>
              <a:rPr lang="en-US" dirty="0" err="1"/>
              <a:t>problema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4004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BEFDC-E7A3-D36F-1E83-0F7100CC9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07A69C-FADE-57EF-95EC-9F14AE3809EF}"/>
              </a:ext>
            </a:extLst>
          </p:cNvPr>
          <p:cNvSpPr txBox="1"/>
          <p:nvPr/>
        </p:nvSpPr>
        <p:spPr>
          <a:xfrm>
            <a:off x="311700" y="1086930"/>
            <a:ext cx="82974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Los cortes </a:t>
            </a:r>
            <a:r>
              <a:rPr lang="en-US" dirty="0" err="1"/>
              <a:t>axiales</a:t>
            </a:r>
            <a:r>
              <a:rPr lang="en-US" dirty="0"/>
              <a:t> de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resonancia</a:t>
            </a:r>
            <a:r>
              <a:rPr lang="en-US" dirty="0"/>
              <a:t> </a:t>
            </a:r>
            <a:r>
              <a:rPr lang="en-US" dirty="0" err="1"/>
              <a:t>magnética</a:t>
            </a:r>
            <a:r>
              <a:rPr lang="en-US" dirty="0"/>
              <a:t> del </a:t>
            </a:r>
            <a:r>
              <a:rPr lang="en-US" dirty="0" err="1"/>
              <a:t>hombro</a:t>
            </a:r>
            <a:r>
              <a:rPr lang="en-US" dirty="0"/>
              <a:t> </a:t>
            </a:r>
            <a:r>
              <a:rPr lang="en-US" dirty="0" err="1"/>
              <a:t>contienen</a:t>
            </a:r>
            <a:r>
              <a:rPr lang="en-US" dirty="0"/>
              <a:t> cortes </a:t>
            </a:r>
            <a:r>
              <a:rPr lang="en-US" dirty="0" err="1"/>
              <a:t>cuasi</a:t>
            </a:r>
            <a:r>
              <a:rPr lang="en-US" dirty="0"/>
              <a:t> circulares del </a:t>
            </a:r>
            <a:r>
              <a:rPr lang="en-US" dirty="0" err="1"/>
              <a:t>húmero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 </a:t>
            </a:r>
            <a:r>
              <a:rPr lang="en-US" dirty="0" err="1"/>
              <a:t>superficie</a:t>
            </a:r>
            <a:r>
              <a:rPr lang="en-US" dirty="0"/>
              <a:t> articular se </a:t>
            </a:r>
            <a:r>
              <a:rPr lang="en-US" dirty="0" err="1"/>
              <a:t>aproxima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esfera</a:t>
            </a:r>
            <a:r>
              <a:rPr lang="en-US" dirty="0"/>
              <a:t>, </a:t>
            </a:r>
            <a:r>
              <a:rPr lang="en-US" dirty="0" err="1"/>
              <a:t>por</a:t>
            </a:r>
            <a:r>
              <a:rPr lang="en-US" dirty="0"/>
              <a:t> lo tanto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corte axial, la </a:t>
            </a:r>
            <a:r>
              <a:rPr lang="en-US" dirty="0" err="1"/>
              <a:t>parte</a:t>
            </a:r>
            <a:r>
              <a:rPr lang="en-US" dirty="0"/>
              <a:t> del </a:t>
            </a:r>
            <a:r>
              <a:rPr lang="en-US" dirty="0" err="1"/>
              <a:t>borde</a:t>
            </a:r>
            <a:r>
              <a:rPr lang="en-US" dirty="0"/>
              <a:t> del </a:t>
            </a:r>
            <a:r>
              <a:rPr lang="en-US" dirty="0" err="1"/>
              <a:t>húmero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la </a:t>
            </a:r>
            <a:r>
              <a:rPr lang="en-US" dirty="0" err="1"/>
              <a:t>superficie</a:t>
            </a:r>
            <a:r>
              <a:rPr lang="en-US" dirty="0"/>
              <a:t> articular es un arco de </a:t>
            </a:r>
            <a:r>
              <a:rPr lang="en-US" dirty="0" err="1"/>
              <a:t>círculo</a:t>
            </a:r>
            <a:r>
              <a:rPr lang="en-US" dirty="0"/>
              <a:t>. </a:t>
            </a:r>
            <a:r>
              <a:rPr lang="en-US" dirty="0" err="1"/>
              <a:t>Será</a:t>
            </a:r>
            <a:r>
              <a:rPr lang="en-US" dirty="0"/>
              <a:t> un </a:t>
            </a:r>
            <a:r>
              <a:rPr lang="en-US" dirty="0" err="1"/>
              <a:t>círculo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corte, </a:t>
            </a:r>
            <a:r>
              <a:rPr lang="en-US" dirty="0" err="1"/>
              <a:t>pero</a:t>
            </a:r>
            <a:r>
              <a:rPr lang="en-US" dirty="0"/>
              <a:t> </a:t>
            </a:r>
            <a:r>
              <a:rPr lang="en-US" dirty="0" err="1"/>
              <a:t>habra</a:t>
            </a:r>
            <a:r>
              <a:rPr lang="en-US" dirty="0"/>
              <a:t> cortes </a:t>
            </a:r>
            <a:r>
              <a:rPr lang="en-US" dirty="0" err="1"/>
              <a:t>que</a:t>
            </a:r>
            <a:r>
              <a:rPr lang="en-US" dirty="0"/>
              <a:t> no </a:t>
            </a:r>
            <a:r>
              <a:rPr lang="en-US" dirty="0" err="1"/>
              <a:t>contienen</a:t>
            </a:r>
            <a:r>
              <a:rPr lang="en-US" dirty="0"/>
              <a:t> </a:t>
            </a:r>
            <a:r>
              <a:rPr lang="en-US" dirty="0" err="1"/>
              <a:t>superficie</a:t>
            </a:r>
            <a:r>
              <a:rPr lang="en-US" dirty="0"/>
              <a:t> </a:t>
            </a:r>
            <a:r>
              <a:rPr lang="en-US" dirty="0" err="1"/>
              <a:t>aricular</a:t>
            </a:r>
            <a:r>
              <a:rPr lang="en-US" dirty="0"/>
              <a:t>, </a:t>
            </a:r>
            <a:r>
              <a:rPr lang="en-US" dirty="0" err="1"/>
              <a:t>por</a:t>
            </a:r>
            <a:r>
              <a:rPr lang="en-US" dirty="0"/>
              <a:t> lo tanto no </a:t>
            </a:r>
            <a:r>
              <a:rPr lang="en-US" dirty="0" err="1"/>
              <a:t>aportan</a:t>
            </a:r>
            <a:r>
              <a:rPr lang="en-US" dirty="0"/>
              <a:t> </a:t>
            </a:r>
            <a:r>
              <a:rPr lang="en-US" dirty="0" err="1"/>
              <a:t>arcos</a:t>
            </a:r>
            <a:r>
              <a:rPr lang="en-US" dirty="0"/>
              <a:t> circulares.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 err="1">
                <a:solidFill>
                  <a:schemeClr val="accent1"/>
                </a:solidFill>
              </a:rPr>
              <a:t>Ejercicio</a:t>
            </a:r>
            <a:r>
              <a:rPr lang="en-US" dirty="0"/>
              <a:t>: </a:t>
            </a:r>
            <a:r>
              <a:rPr lang="en-US" dirty="0" err="1"/>
              <a:t>Investigue</a:t>
            </a:r>
            <a:r>
              <a:rPr lang="en-US" dirty="0"/>
              <a:t> con bots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detectar</a:t>
            </a:r>
            <a:r>
              <a:rPr lang="en-US" dirty="0"/>
              <a:t> </a:t>
            </a:r>
            <a:r>
              <a:rPr lang="en-US" dirty="0" err="1"/>
              <a:t>estos</a:t>
            </a:r>
            <a:r>
              <a:rPr lang="en-US" dirty="0"/>
              <a:t> </a:t>
            </a:r>
            <a:r>
              <a:rPr lang="en-US" dirty="0" err="1"/>
              <a:t>segmentos</a:t>
            </a:r>
            <a:r>
              <a:rPr lang="en-US" dirty="0"/>
              <a:t> de </a:t>
            </a:r>
            <a:r>
              <a:rPr lang="en-US" dirty="0" err="1"/>
              <a:t>círculos</a:t>
            </a:r>
            <a:r>
              <a:rPr lang="en-US" dirty="0"/>
              <a:t> y </a:t>
            </a:r>
            <a:r>
              <a:rPr lang="en-US" dirty="0" err="1"/>
              <a:t>proponga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secuencia</a:t>
            </a:r>
            <a:r>
              <a:rPr lang="en-US" dirty="0"/>
              <a:t> </a:t>
            </a:r>
            <a:r>
              <a:rPr lang="en-US" dirty="0" err="1"/>
              <a:t>estructurada</a:t>
            </a:r>
            <a:r>
              <a:rPr lang="en-US" dirty="0"/>
              <a:t> de pasos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permita</a:t>
            </a:r>
            <a:r>
              <a:rPr lang="en-US" dirty="0"/>
              <a:t> </a:t>
            </a:r>
            <a:r>
              <a:rPr lang="en-US" dirty="0" err="1"/>
              <a:t>detectar</a:t>
            </a:r>
            <a:r>
              <a:rPr lang="en-US" dirty="0"/>
              <a:t> </a:t>
            </a:r>
            <a:r>
              <a:rPr lang="en-US" dirty="0" err="1"/>
              <a:t>esos</a:t>
            </a:r>
            <a:r>
              <a:rPr lang="en-US" dirty="0"/>
              <a:t> </a:t>
            </a:r>
            <a:r>
              <a:rPr lang="en-US" dirty="0" err="1"/>
              <a:t>arcos</a:t>
            </a:r>
            <a:r>
              <a:rPr lang="en-US" dirty="0"/>
              <a:t> de </a:t>
            </a:r>
            <a:r>
              <a:rPr lang="en-US" dirty="0" err="1"/>
              <a:t>círculos</a:t>
            </a:r>
            <a:r>
              <a:rPr lang="en-US" dirty="0"/>
              <a:t>.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22D7F59-CBE0-9C23-1D9D-E913557B2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Húmero</a:t>
            </a:r>
            <a:r>
              <a:rPr lang="en-US" dirty="0"/>
              <a:t>, cortes </a:t>
            </a:r>
            <a:r>
              <a:rPr lang="en-US" dirty="0" err="1"/>
              <a:t>axiales</a:t>
            </a:r>
            <a:r>
              <a:rPr lang="en-US" dirty="0"/>
              <a:t> y </a:t>
            </a:r>
            <a:r>
              <a:rPr lang="en-US" dirty="0" err="1"/>
              <a:t>arcos</a:t>
            </a:r>
            <a:r>
              <a:rPr lang="en-US" dirty="0"/>
              <a:t> circulares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E063B2-A0AE-4224-79BA-4331AC46E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566" y="3463347"/>
            <a:ext cx="1460255" cy="8909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CAD600-21E7-3FF0-99BF-EE5F3A7E3FCB}"/>
              </a:ext>
            </a:extLst>
          </p:cNvPr>
          <p:cNvSpPr txBox="1"/>
          <p:nvPr/>
        </p:nvSpPr>
        <p:spPr>
          <a:xfrm>
            <a:off x="311700" y="3260146"/>
            <a:ext cx="38680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Ejercicio</a:t>
            </a:r>
            <a:r>
              <a:rPr lang="en-US" dirty="0"/>
              <a:t>: </a:t>
            </a:r>
            <a:r>
              <a:rPr lang="en-US" dirty="0" err="1"/>
              <a:t>Proponga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estrategia</a:t>
            </a:r>
            <a:r>
              <a:rPr lang="en-US" dirty="0"/>
              <a:t> para </a:t>
            </a:r>
            <a:r>
              <a:rPr lang="en-US" dirty="0" err="1"/>
              <a:t>detectar</a:t>
            </a:r>
            <a:r>
              <a:rPr lang="en-US" dirty="0"/>
              <a:t> el </a:t>
            </a:r>
            <a:r>
              <a:rPr lang="en-US" dirty="0" err="1"/>
              <a:t>eje</a:t>
            </a:r>
            <a:r>
              <a:rPr lang="en-US" dirty="0"/>
              <a:t> del </a:t>
            </a:r>
            <a:r>
              <a:rPr lang="en-US" dirty="0" err="1"/>
              <a:t>húmero</a:t>
            </a:r>
            <a:r>
              <a:rPr lang="en-US" dirty="0"/>
              <a:t> a </a:t>
            </a:r>
            <a:r>
              <a:rPr lang="en-US" dirty="0" err="1"/>
              <a:t>partir</a:t>
            </a:r>
            <a:r>
              <a:rPr lang="en-US" dirty="0"/>
              <a:t> de cortes del </a:t>
            </a:r>
            <a:r>
              <a:rPr lang="en-US" dirty="0" err="1"/>
              <a:t>brazo</a:t>
            </a:r>
            <a:r>
              <a:rPr lang="en-US" dirty="0"/>
              <a:t> del </a:t>
            </a:r>
            <a:r>
              <a:rPr lang="en-US" dirty="0" err="1"/>
              <a:t>húmero</a:t>
            </a:r>
            <a:r>
              <a:rPr lang="en-US" dirty="0"/>
              <a:t> - </a:t>
            </a:r>
            <a:r>
              <a:rPr lang="en-US" dirty="0" err="1"/>
              <a:t>empezando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debajo</a:t>
            </a:r>
            <a:r>
              <a:rPr lang="en-US" dirty="0"/>
              <a:t> del </a:t>
            </a:r>
            <a:r>
              <a:rPr lang="en-US" dirty="0" err="1"/>
              <a:t>cuello</a:t>
            </a:r>
            <a:r>
              <a:rPr lang="en-US" dirty="0"/>
              <a:t> del </a:t>
            </a:r>
            <a:r>
              <a:rPr lang="en-US" dirty="0" err="1"/>
              <a:t>húmero</a:t>
            </a:r>
            <a:r>
              <a:rPr lang="en-US" dirty="0"/>
              <a:t> y </a:t>
            </a:r>
            <a:r>
              <a:rPr lang="en-US" dirty="0" err="1"/>
              <a:t>terminando</a:t>
            </a:r>
            <a:r>
              <a:rPr lang="en-US" dirty="0"/>
              <a:t> antes del </a:t>
            </a:r>
            <a:r>
              <a:rPr lang="en-US" dirty="0" err="1"/>
              <a:t>codo</a:t>
            </a:r>
            <a:r>
              <a:rPr lang="en-US" dirty="0"/>
              <a:t>,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mitad</a:t>
            </a:r>
            <a:r>
              <a:rPr lang="en-US" dirty="0"/>
              <a:t> del </a:t>
            </a:r>
            <a:r>
              <a:rPr lang="en-US" dirty="0" err="1"/>
              <a:t>antebrazo</a:t>
            </a:r>
            <a:r>
              <a:rPr lang="en-US" dirty="0"/>
              <a:t>).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285257-F313-68D0-290C-D3C3C2AF7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675" y="3074240"/>
            <a:ext cx="591152" cy="175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4551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0E280-A285-E4AC-26E2-7122BF928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9B67F1-3C58-E6E8-87FC-261FCBCE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Húmero</a:t>
            </a:r>
            <a:r>
              <a:rPr lang="en-US" dirty="0"/>
              <a:t> standard y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músculos</a:t>
            </a:r>
            <a:r>
              <a:rPr lang="en-US" dirty="0"/>
              <a:t>: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stl’s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93F692A-7E03-DE1E-27DF-7EAB22296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603" y="1017725"/>
            <a:ext cx="914197" cy="22193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983D9A-F09A-069B-FD92-D296BB9A5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3690" y="1367329"/>
            <a:ext cx="765157" cy="18575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2D2931-43EE-E4E7-7C27-896564E1D6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9297" y="1379549"/>
            <a:ext cx="765157" cy="18575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9C4FC01-6685-3A15-94C2-FE03F17144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4248" y="1379549"/>
            <a:ext cx="974147" cy="18575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941E0E4-C779-483B-3B50-0D584FBEFE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028" y="3450553"/>
            <a:ext cx="6549572" cy="133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040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B7FD9-7EFA-7326-8DFC-B367DCF09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9DBEEAC-2FFD-8F4B-86E0-DA508A74A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Claude de Anthropic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C0B818-E27A-2F87-9C07-775DA59E8BF9}"/>
              </a:ext>
            </a:extLst>
          </p:cNvPr>
          <p:cNvSpPr txBox="1"/>
          <p:nvPr/>
        </p:nvSpPr>
        <p:spPr>
          <a:xfrm>
            <a:off x="836023" y="1229643"/>
            <a:ext cx="18915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prompt:  Consider the following </a:t>
            </a:r>
            <a:r>
              <a:rPr lang="en-GB" dirty="0" err="1"/>
              <a:t>stl</a:t>
            </a:r>
            <a:r>
              <a:rPr lang="en-GB" dirty="0"/>
              <a:t> files of the humerus and its muscles, produce one </a:t>
            </a:r>
            <a:r>
              <a:rPr lang="en-GB" dirty="0" err="1"/>
              <a:t>stl</a:t>
            </a:r>
            <a:r>
              <a:rPr lang="en-GB" dirty="0"/>
              <a:t> that displays them together in different </a:t>
            </a:r>
            <a:r>
              <a:rPr lang="en-GB" dirty="0" err="1"/>
              <a:t>colors</a:t>
            </a:r>
            <a:r>
              <a:rPr lang="en-GB" dirty="0"/>
              <a:t>. Label them accordingly.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A123D7-8F90-045C-B99D-1596A5820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265" y="1413521"/>
            <a:ext cx="4386586" cy="31969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BE4638-7E45-0DA0-E959-539EB0D52FA1}"/>
              </a:ext>
            </a:extLst>
          </p:cNvPr>
          <p:cNvSpPr txBox="1"/>
          <p:nvPr/>
        </p:nvSpPr>
        <p:spPr>
          <a:xfrm>
            <a:off x="3644539" y="1105744"/>
            <a:ext cx="3914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respuesta</a:t>
            </a:r>
            <a:r>
              <a:rPr lang="en-GB" dirty="0"/>
              <a:t> – </a:t>
            </a:r>
            <a:r>
              <a:rPr lang="en-GB" dirty="0" err="1"/>
              <a:t>después</a:t>
            </a:r>
            <a:r>
              <a:rPr lang="en-GB" dirty="0"/>
              <a:t> de </a:t>
            </a:r>
            <a:r>
              <a:rPr lang="en-GB" dirty="0" err="1"/>
              <a:t>varios</a:t>
            </a:r>
            <a:r>
              <a:rPr lang="en-GB" dirty="0"/>
              <a:t> </a:t>
            </a:r>
            <a:r>
              <a:rPr lang="en-GB" dirty="0" err="1"/>
              <a:t>intentos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C49850-7001-39B5-4DF9-55CD24643DC9}"/>
              </a:ext>
            </a:extLst>
          </p:cNvPr>
          <p:cNvSpPr txBox="1"/>
          <p:nvPr/>
        </p:nvSpPr>
        <p:spPr>
          <a:xfrm>
            <a:off x="2283455" y="4698474"/>
            <a:ext cx="6686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link: </a:t>
            </a:r>
            <a:r>
              <a:rPr lang="en-GB" dirty="0">
                <a:hlinkClick r:id="rId3"/>
              </a:rPr>
              <a:t>file:///Users/mpaluszny/Downloads/visor_3d_humero_musculos(4).html</a:t>
            </a:r>
            <a:r>
              <a:rPr lang="en-GB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8526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21733-92B5-EF0D-C88A-868EEC639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CAC790A-A41A-04A1-CC3D-CF6D99FF3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Actividad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desarrollar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46AECF-AE23-A140-BBF2-2E0F522CCFC1}"/>
              </a:ext>
            </a:extLst>
          </p:cNvPr>
          <p:cNvSpPr txBox="1"/>
          <p:nvPr/>
        </p:nvSpPr>
        <p:spPr>
          <a:xfrm>
            <a:off x="311699" y="1099042"/>
            <a:ext cx="356361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Tenemos</a:t>
            </a:r>
            <a:r>
              <a:rPr lang="en-GB" dirty="0"/>
              <a:t> </a:t>
            </a:r>
            <a:r>
              <a:rPr lang="en-GB" dirty="0" err="1"/>
              <a:t>los</a:t>
            </a:r>
            <a:r>
              <a:rPr lang="en-GB" dirty="0"/>
              <a:t> </a:t>
            </a:r>
            <a:r>
              <a:rPr lang="en-GB" dirty="0" err="1"/>
              <a:t>archivos</a:t>
            </a:r>
            <a:r>
              <a:rPr lang="en-GB" dirty="0"/>
              <a:t> </a:t>
            </a:r>
            <a:r>
              <a:rPr lang="en-GB" dirty="0" err="1"/>
              <a:t>stl</a:t>
            </a:r>
            <a:r>
              <a:rPr lang="en-GB" dirty="0"/>
              <a:t> del </a:t>
            </a:r>
            <a:r>
              <a:rPr lang="en-GB" dirty="0" err="1"/>
              <a:t>húmero</a:t>
            </a:r>
            <a:r>
              <a:rPr lang="en-GB" dirty="0"/>
              <a:t> y de </a:t>
            </a:r>
            <a:r>
              <a:rPr lang="en-GB" dirty="0" err="1"/>
              <a:t>los</a:t>
            </a:r>
            <a:r>
              <a:rPr lang="en-GB" dirty="0"/>
              <a:t> </a:t>
            </a:r>
            <a:r>
              <a:rPr lang="en-GB" dirty="0" err="1"/>
              <a:t>músculos</a:t>
            </a:r>
            <a:r>
              <a:rPr lang="en-GB" dirty="0"/>
              <a:t> del standard.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Construimos</a:t>
            </a:r>
            <a:r>
              <a:rPr lang="en-GB" dirty="0"/>
              <a:t> el par </a:t>
            </a:r>
            <a:r>
              <a:rPr lang="en-GB" dirty="0" err="1"/>
              <a:t>esfera</a:t>
            </a:r>
            <a:r>
              <a:rPr lang="en-GB" dirty="0"/>
              <a:t>/</a:t>
            </a:r>
            <a:r>
              <a:rPr lang="en-GB" dirty="0" err="1"/>
              <a:t>eje</a:t>
            </a:r>
            <a:r>
              <a:rPr lang="en-GB" dirty="0"/>
              <a:t> standard a </a:t>
            </a:r>
            <a:r>
              <a:rPr lang="en-GB" dirty="0" err="1"/>
              <a:t>partir</a:t>
            </a:r>
            <a:r>
              <a:rPr lang="en-GB" dirty="0"/>
              <a:t> del </a:t>
            </a:r>
            <a:r>
              <a:rPr lang="en-GB" dirty="0" err="1"/>
              <a:t>stl</a:t>
            </a:r>
            <a:r>
              <a:rPr lang="en-GB" dirty="0"/>
              <a:t> standard.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Consideramos</a:t>
            </a:r>
            <a:r>
              <a:rPr lang="en-GB" dirty="0"/>
              <a:t> el MRI del </a:t>
            </a:r>
            <a:r>
              <a:rPr lang="en-GB" dirty="0" err="1"/>
              <a:t>paciente</a:t>
            </a:r>
            <a:r>
              <a:rPr lang="en-GB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Detectamos</a:t>
            </a:r>
            <a:r>
              <a:rPr lang="en-GB" dirty="0"/>
              <a:t> </a:t>
            </a:r>
            <a:r>
              <a:rPr lang="en-GB" dirty="0" err="1"/>
              <a:t>arcos</a:t>
            </a:r>
            <a:r>
              <a:rPr lang="en-GB" dirty="0"/>
              <a:t> circulares </a:t>
            </a:r>
            <a:r>
              <a:rPr lang="en-GB" dirty="0" err="1"/>
              <a:t>en</a:t>
            </a:r>
            <a:r>
              <a:rPr lang="en-GB" dirty="0"/>
              <a:t> la </a:t>
            </a:r>
            <a:r>
              <a:rPr lang="en-GB" dirty="0" err="1"/>
              <a:t>superficie</a:t>
            </a:r>
            <a:r>
              <a:rPr lang="en-GB" dirty="0"/>
              <a:t> articular del </a:t>
            </a:r>
            <a:r>
              <a:rPr lang="en-GB" dirty="0" err="1"/>
              <a:t>húmero</a:t>
            </a:r>
            <a:r>
              <a:rPr lang="en-GB" dirty="0"/>
              <a:t> del </a:t>
            </a:r>
            <a:r>
              <a:rPr lang="en-GB" dirty="0" err="1"/>
              <a:t>paciente</a:t>
            </a:r>
            <a:r>
              <a:rPr lang="en-GB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Los </a:t>
            </a:r>
            <a:r>
              <a:rPr lang="en-GB" dirty="0" err="1"/>
              <a:t>arcos</a:t>
            </a:r>
            <a:r>
              <a:rPr lang="en-GB" dirty="0"/>
              <a:t> circulares </a:t>
            </a:r>
            <a:r>
              <a:rPr lang="en-GB" dirty="0" err="1"/>
              <a:t>determinan</a:t>
            </a:r>
            <a:r>
              <a:rPr lang="en-GB" dirty="0"/>
              <a:t> el par </a:t>
            </a:r>
            <a:r>
              <a:rPr lang="en-GB" dirty="0" err="1"/>
              <a:t>esfera</a:t>
            </a:r>
            <a:r>
              <a:rPr lang="en-GB" dirty="0"/>
              <a:t>/</a:t>
            </a:r>
            <a:r>
              <a:rPr lang="en-GB" dirty="0" err="1"/>
              <a:t>eje</a:t>
            </a:r>
            <a:r>
              <a:rPr lang="en-GB" dirty="0"/>
              <a:t> del </a:t>
            </a:r>
            <a:r>
              <a:rPr lang="en-GB" dirty="0" err="1"/>
              <a:t>paciente</a:t>
            </a:r>
            <a:r>
              <a:rPr lang="en-GB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Construimos</a:t>
            </a:r>
            <a:r>
              <a:rPr lang="en-GB" dirty="0"/>
              <a:t> el </a:t>
            </a:r>
            <a:r>
              <a:rPr lang="en-GB" dirty="0" err="1"/>
              <a:t>elemento</a:t>
            </a:r>
            <a:r>
              <a:rPr lang="en-GB" dirty="0"/>
              <a:t> de O(3,1)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manda</a:t>
            </a:r>
            <a:r>
              <a:rPr lang="en-GB" dirty="0"/>
              <a:t> el par </a:t>
            </a:r>
            <a:r>
              <a:rPr lang="en-GB" dirty="0" err="1"/>
              <a:t>esfera</a:t>
            </a:r>
            <a:r>
              <a:rPr lang="en-GB" dirty="0"/>
              <a:t>/</a:t>
            </a:r>
            <a:r>
              <a:rPr lang="en-GB" dirty="0" err="1"/>
              <a:t>eje</a:t>
            </a:r>
            <a:r>
              <a:rPr lang="en-GB" dirty="0"/>
              <a:t> standard </a:t>
            </a:r>
            <a:r>
              <a:rPr lang="en-GB" dirty="0" err="1"/>
              <a:t>en</a:t>
            </a:r>
            <a:r>
              <a:rPr lang="en-GB" dirty="0"/>
              <a:t> el par del </a:t>
            </a:r>
            <a:r>
              <a:rPr lang="en-GB" dirty="0" err="1"/>
              <a:t>paciente</a:t>
            </a:r>
            <a:r>
              <a:rPr lang="en-GB" dirty="0"/>
              <a:t>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8FBDA8-B0CD-DD9E-4537-230E86A60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7619" y="1162569"/>
            <a:ext cx="4386586" cy="31969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22415E-91BE-2DC9-5E59-D9F642D6AC14}"/>
              </a:ext>
            </a:extLst>
          </p:cNvPr>
          <p:cNvSpPr txBox="1"/>
          <p:nvPr/>
        </p:nvSpPr>
        <p:spPr>
          <a:xfrm>
            <a:off x="3875314" y="4698474"/>
            <a:ext cx="46503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solidFill>
                  <a:schemeClr val="accent1"/>
                </a:solidFill>
              </a:rPr>
              <a:t>Consideramos</a:t>
            </a:r>
            <a:r>
              <a:rPr lang="en-GB" dirty="0">
                <a:solidFill>
                  <a:schemeClr val="accent1"/>
                </a:solidFill>
              </a:rPr>
              <a:t> las </a:t>
            </a:r>
            <a:r>
              <a:rPr lang="en-GB" dirty="0" err="1">
                <a:solidFill>
                  <a:schemeClr val="accent1"/>
                </a:solidFill>
              </a:rPr>
              <a:t>imágenes</a:t>
            </a:r>
            <a:r>
              <a:rPr lang="en-GB" dirty="0">
                <a:solidFill>
                  <a:schemeClr val="accent1"/>
                </a:solidFill>
              </a:rPr>
              <a:t> de </a:t>
            </a:r>
            <a:r>
              <a:rPr lang="en-GB" dirty="0" err="1">
                <a:solidFill>
                  <a:schemeClr val="accent1"/>
                </a:solidFill>
              </a:rPr>
              <a:t>los</a:t>
            </a:r>
            <a:r>
              <a:rPr lang="en-GB" dirty="0">
                <a:solidFill>
                  <a:schemeClr val="accent1"/>
                </a:solidFill>
              </a:rPr>
              <a:t> </a:t>
            </a:r>
            <a:r>
              <a:rPr lang="en-GB" dirty="0" err="1">
                <a:solidFill>
                  <a:schemeClr val="accent1"/>
                </a:solidFill>
              </a:rPr>
              <a:t>músculos</a:t>
            </a:r>
            <a:r>
              <a:rPr lang="en-GB" dirty="0">
                <a:solidFill>
                  <a:schemeClr val="accent1"/>
                </a:solidFill>
              </a:rPr>
              <a:t> standard !! 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52708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AC90B-5A69-D766-EDF1-58E0C9B3D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E906343-62DC-65C6-AA6F-DB2FD0CE9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Actividad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desarrollar</a:t>
            </a:r>
            <a:r>
              <a:rPr lang="en-US" dirty="0"/>
              <a:t> para Gustavo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BE06C0-F663-1CA9-8695-26CFF6859540}"/>
              </a:ext>
            </a:extLst>
          </p:cNvPr>
          <p:cNvSpPr txBox="1"/>
          <p:nvPr/>
        </p:nvSpPr>
        <p:spPr>
          <a:xfrm>
            <a:off x="311699" y="1099042"/>
            <a:ext cx="661161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Tenemos</a:t>
            </a:r>
            <a:r>
              <a:rPr lang="en-GB" dirty="0"/>
              <a:t> </a:t>
            </a:r>
            <a:r>
              <a:rPr lang="en-GB" dirty="0" err="1"/>
              <a:t>los</a:t>
            </a:r>
            <a:r>
              <a:rPr lang="en-GB" dirty="0"/>
              <a:t> </a:t>
            </a:r>
            <a:r>
              <a:rPr lang="en-GB" dirty="0" err="1"/>
              <a:t>archivos</a:t>
            </a:r>
            <a:r>
              <a:rPr lang="en-GB" dirty="0"/>
              <a:t> </a:t>
            </a:r>
            <a:r>
              <a:rPr lang="en-GB" dirty="0" err="1"/>
              <a:t>stl</a:t>
            </a:r>
            <a:r>
              <a:rPr lang="en-GB" dirty="0"/>
              <a:t> del </a:t>
            </a:r>
            <a:r>
              <a:rPr lang="en-GB" dirty="0" err="1"/>
              <a:t>húmero</a:t>
            </a:r>
            <a:r>
              <a:rPr lang="en-GB" dirty="0"/>
              <a:t> y de </a:t>
            </a:r>
            <a:r>
              <a:rPr lang="en-GB" dirty="0" err="1"/>
              <a:t>los</a:t>
            </a:r>
            <a:r>
              <a:rPr lang="en-GB" dirty="0"/>
              <a:t> </a:t>
            </a:r>
            <a:r>
              <a:rPr lang="en-GB" dirty="0" err="1"/>
              <a:t>músculos</a:t>
            </a:r>
            <a:r>
              <a:rPr lang="en-GB" dirty="0"/>
              <a:t> del standard.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Construimos</a:t>
            </a:r>
            <a:r>
              <a:rPr lang="en-GB" dirty="0"/>
              <a:t> el par </a:t>
            </a:r>
            <a:r>
              <a:rPr lang="en-GB" dirty="0" err="1"/>
              <a:t>esfera</a:t>
            </a:r>
            <a:r>
              <a:rPr lang="en-GB" dirty="0"/>
              <a:t>/</a:t>
            </a:r>
            <a:r>
              <a:rPr lang="en-GB" dirty="0" err="1"/>
              <a:t>eje</a:t>
            </a:r>
            <a:r>
              <a:rPr lang="en-GB" dirty="0"/>
              <a:t> standard a </a:t>
            </a:r>
            <a:r>
              <a:rPr lang="en-GB" dirty="0" err="1"/>
              <a:t>partir</a:t>
            </a:r>
            <a:r>
              <a:rPr lang="en-GB" dirty="0"/>
              <a:t> del </a:t>
            </a:r>
            <a:r>
              <a:rPr lang="en-GB" dirty="0" err="1"/>
              <a:t>stl</a:t>
            </a:r>
            <a:r>
              <a:rPr lang="en-GB" dirty="0"/>
              <a:t> standard.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Consideramos</a:t>
            </a:r>
            <a:r>
              <a:rPr lang="en-GB" dirty="0"/>
              <a:t> el MRI del </a:t>
            </a:r>
            <a:r>
              <a:rPr lang="en-GB" dirty="0" err="1"/>
              <a:t>paciente</a:t>
            </a:r>
            <a:r>
              <a:rPr lang="en-GB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Detectamos</a:t>
            </a:r>
            <a:r>
              <a:rPr lang="en-GB" dirty="0"/>
              <a:t> </a:t>
            </a:r>
            <a:r>
              <a:rPr lang="en-GB" dirty="0" err="1"/>
              <a:t>arcos</a:t>
            </a:r>
            <a:r>
              <a:rPr lang="en-GB" dirty="0"/>
              <a:t> circulares </a:t>
            </a:r>
            <a:r>
              <a:rPr lang="en-GB" dirty="0" err="1"/>
              <a:t>en</a:t>
            </a:r>
            <a:r>
              <a:rPr lang="en-GB" dirty="0"/>
              <a:t> la </a:t>
            </a:r>
            <a:r>
              <a:rPr lang="en-GB" dirty="0" err="1"/>
              <a:t>superficie</a:t>
            </a:r>
            <a:r>
              <a:rPr lang="en-GB" dirty="0"/>
              <a:t> articular del </a:t>
            </a:r>
            <a:r>
              <a:rPr lang="en-GB" dirty="0" err="1"/>
              <a:t>húmero</a:t>
            </a:r>
            <a:r>
              <a:rPr lang="en-GB" dirty="0"/>
              <a:t> del </a:t>
            </a:r>
            <a:r>
              <a:rPr lang="en-GB" dirty="0" err="1"/>
              <a:t>paciente</a:t>
            </a:r>
            <a:r>
              <a:rPr lang="en-GB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Los </a:t>
            </a:r>
            <a:r>
              <a:rPr lang="en-GB" dirty="0" err="1"/>
              <a:t>arcos</a:t>
            </a:r>
            <a:r>
              <a:rPr lang="en-GB" dirty="0"/>
              <a:t> circulares </a:t>
            </a:r>
            <a:r>
              <a:rPr lang="en-GB" dirty="0" err="1"/>
              <a:t>determinan</a:t>
            </a:r>
            <a:r>
              <a:rPr lang="en-GB" dirty="0"/>
              <a:t> el par </a:t>
            </a:r>
            <a:r>
              <a:rPr lang="en-GB" dirty="0" err="1"/>
              <a:t>esfera</a:t>
            </a:r>
            <a:r>
              <a:rPr lang="en-GB" dirty="0"/>
              <a:t>/</a:t>
            </a:r>
            <a:r>
              <a:rPr lang="en-GB" dirty="0" err="1"/>
              <a:t>eje</a:t>
            </a:r>
            <a:r>
              <a:rPr lang="en-GB" dirty="0"/>
              <a:t> del </a:t>
            </a:r>
            <a:r>
              <a:rPr lang="en-GB" dirty="0" err="1"/>
              <a:t>paciente</a:t>
            </a:r>
            <a:r>
              <a:rPr lang="en-GB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Construimos</a:t>
            </a:r>
            <a:r>
              <a:rPr lang="en-GB" dirty="0"/>
              <a:t> el </a:t>
            </a:r>
            <a:r>
              <a:rPr lang="en-GB" dirty="0" err="1"/>
              <a:t>elemento</a:t>
            </a:r>
            <a:r>
              <a:rPr lang="en-GB" dirty="0"/>
              <a:t> de O(3,1)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manda</a:t>
            </a:r>
            <a:r>
              <a:rPr lang="en-GB" dirty="0"/>
              <a:t> el par </a:t>
            </a:r>
            <a:r>
              <a:rPr lang="en-GB" dirty="0" err="1"/>
              <a:t>esfera</a:t>
            </a:r>
            <a:r>
              <a:rPr lang="en-GB" dirty="0"/>
              <a:t>/</a:t>
            </a:r>
            <a:r>
              <a:rPr lang="en-GB" dirty="0" err="1"/>
              <a:t>eje</a:t>
            </a:r>
            <a:r>
              <a:rPr lang="en-GB" dirty="0"/>
              <a:t> standard </a:t>
            </a:r>
            <a:r>
              <a:rPr lang="en-GB" dirty="0" err="1"/>
              <a:t>en</a:t>
            </a:r>
            <a:r>
              <a:rPr lang="en-GB" dirty="0"/>
              <a:t> el par del </a:t>
            </a:r>
            <a:r>
              <a:rPr lang="en-GB" dirty="0" err="1"/>
              <a:t>paciente</a:t>
            </a:r>
            <a:r>
              <a:rPr lang="en-GB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Usar la </a:t>
            </a:r>
            <a:r>
              <a:rPr lang="en-GB" dirty="0" err="1"/>
              <a:t>transformacion</a:t>
            </a:r>
            <a:r>
              <a:rPr lang="en-GB" dirty="0"/>
              <a:t> para mandar un </a:t>
            </a:r>
            <a:r>
              <a:rPr lang="en-GB" dirty="0" err="1"/>
              <a:t>húmero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el </a:t>
            </a:r>
            <a:r>
              <a:rPr lang="en-GB" dirty="0" err="1"/>
              <a:t>otro</a:t>
            </a:r>
            <a:r>
              <a:rPr lang="en-GB" dirty="0"/>
              <a:t>, y </a:t>
            </a:r>
            <a:r>
              <a:rPr lang="en-GB" dirty="0" err="1"/>
              <a:t>ver</a:t>
            </a:r>
            <a:r>
              <a:rPr lang="en-GB" dirty="0"/>
              <a:t> las </a:t>
            </a:r>
            <a:r>
              <a:rPr lang="en-GB" dirty="0" err="1"/>
              <a:t>imagenes</a:t>
            </a:r>
            <a:r>
              <a:rPr lang="en-GB" dirty="0"/>
              <a:t> de </a:t>
            </a:r>
            <a:r>
              <a:rPr lang="en-GB" dirty="0" err="1"/>
              <a:t>los</a:t>
            </a:r>
            <a:r>
              <a:rPr lang="en-GB" dirty="0"/>
              <a:t> </a:t>
            </a:r>
            <a:r>
              <a:rPr lang="en-GB" dirty="0" err="1"/>
              <a:t>stl</a:t>
            </a:r>
            <a:r>
              <a:rPr lang="en-GB" dirty="0"/>
              <a:t> de </a:t>
            </a:r>
            <a:r>
              <a:rPr lang="en-GB" dirty="0" err="1"/>
              <a:t>los</a:t>
            </a:r>
            <a:r>
              <a:rPr lang="en-GB" dirty="0"/>
              <a:t> </a:t>
            </a:r>
            <a:r>
              <a:rPr lang="en-GB" dirty="0" err="1"/>
              <a:t>músculos</a:t>
            </a:r>
            <a:r>
              <a:rPr lang="en-GB" dirty="0"/>
              <a:t> del standard </a:t>
            </a:r>
            <a:r>
              <a:rPr lang="en-GB" dirty="0" err="1"/>
              <a:t>en</a:t>
            </a:r>
            <a:r>
              <a:rPr lang="en-GB" dirty="0"/>
              <a:t> el </a:t>
            </a:r>
            <a:r>
              <a:rPr lang="en-GB" dirty="0" err="1"/>
              <a:t>paciente</a:t>
            </a:r>
            <a:r>
              <a:rPr lang="en-GB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Estimar</a:t>
            </a:r>
            <a:r>
              <a:rPr lang="en-GB" dirty="0"/>
              <a:t> la </a:t>
            </a:r>
            <a:r>
              <a:rPr lang="en-GB" dirty="0" err="1"/>
              <a:t>eficacia</a:t>
            </a:r>
            <a:r>
              <a:rPr lang="en-GB" dirty="0"/>
              <a:t> de </a:t>
            </a:r>
            <a:r>
              <a:rPr lang="en-GB" dirty="0" err="1"/>
              <a:t>modelación</a:t>
            </a:r>
            <a:r>
              <a:rPr lang="en-GB" dirty="0"/>
              <a:t> de </a:t>
            </a:r>
            <a:r>
              <a:rPr lang="en-GB" dirty="0" err="1"/>
              <a:t>los</a:t>
            </a:r>
            <a:r>
              <a:rPr lang="en-GB" dirty="0"/>
              <a:t> </a:t>
            </a:r>
            <a:r>
              <a:rPr lang="en-GB" dirty="0" err="1"/>
              <a:t>musculos</a:t>
            </a:r>
            <a:r>
              <a:rPr lang="en-GB" dirty="0"/>
              <a:t> del </a:t>
            </a:r>
            <a:r>
              <a:rPr lang="en-GB" dirty="0" err="1"/>
              <a:t>paciente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7864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87672-A00E-77CC-9103-3CD89B2D6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21BCBD-E9AE-F15A-268A-9732E21ABBB8}"/>
              </a:ext>
            </a:extLst>
          </p:cNvPr>
          <p:cNvSpPr txBox="1"/>
          <p:nvPr/>
        </p:nvSpPr>
        <p:spPr>
          <a:xfrm>
            <a:off x="522514" y="1017725"/>
            <a:ext cx="8309786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 </a:t>
            </a:r>
            <a:r>
              <a:rPr lang="en-GB" dirty="0" err="1"/>
              <a:t>OpenSim</a:t>
            </a:r>
            <a:r>
              <a:rPr lang="en-GB" dirty="0"/>
              <a:t> Upper Extremity / Shoulder models — Best starting point. Contains generic rotator cuff insertion points (supraspinatus, infraspinatus, subscapularis, teres minor) defined on the humerus. Download: </a:t>
            </a:r>
            <a:r>
              <a:rPr lang="en-GB" dirty="0" err="1"/>
              <a:t>simtk.org</a:t>
            </a:r>
            <a:r>
              <a:rPr lang="en-GB" dirty="0"/>
              <a:t>/projects/up-</a:t>
            </a:r>
            <a:r>
              <a:rPr lang="en-GB" dirty="0" err="1"/>
              <a:t>ext</a:t>
            </a:r>
            <a:r>
              <a:rPr lang="en-GB" dirty="0"/>
              <a:t>-model (free registration) or the main </a:t>
            </a:r>
            <a:r>
              <a:rPr lang="en-GB" dirty="0" err="1"/>
              <a:t>OpenSim</a:t>
            </a:r>
            <a:r>
              <a:rPr lang="en-GB" dirty="0"/>
              <a:t> site.</a:t>
            </a:r>
          </a:p>
          <a:p>
            <a:endParaRPr lang="en-GB" dirty="0"/>
          </a:p>
          <a:p>
            <a:r>
              <a:rPr lang="en-GB" dirty="0"/>
              <a:t>- </a:t>
            </a:r>
            <a:r>
              <a:rPr lang="en-GB" dirty="0" err="1"/>
              <a:t>AnyBody</a:t>
            </a:r>
            <a:r>
              <a:rPr lang="en-GB" dirty="0"/>
              <a:t> Sphere-on-Sphere Shoulder Model (GitHub) — Detailed rotator cuff paths and attachment points. </a:t>
            </a:r>
            <a:r>
              <a:rPr lang="en-GB" dirty="0" err="1"/>
              <a:t>github.com</a:t>
            </a:r>
            <a:r>
              <a:rPr lang="en-GB" dirty="0"/>
              <a:t>/</a:t>
            </a:r>
            <a:r>
              <a:rPr lang="en-GB" dirty="0" err="1"/>
              <a:t>AnyBody</a:t>
            </a:r>
            <a:r>
              <a:rPr lang="en-GB" dirty="0"/>
              <a:t>/sphere-on-</a:t>
            </a:r>
            <a:r>
              <a:rPr lang="en-GB" dirty="0" err="1"/>
              <a:t>sphere_shoulder_model</a:t>
            </a:r>
            <a:endParaRPr lang="en-GB" dirty="0"/>
          </a:p>
          <a:p>
            <a:endParaRPr lang="en-GB" dirty="0"/>
          </a:p>
          <a:p>
            <a:r>
              <a:rPr lang="en-US" dirty="0"/>
              <a:t>- </a:t>
            </a:r>
            <a:r>
              <a:rPr lang="en-GB" dirty="0"/>
              <a:t>Curtis et al. (2006) — “The insertional footprint of the rotator cuff: an anatomic study” (very widely cited). PubMed: 16762697</a:t>
            </a:r>
          </a:p>
          <a:p>
            <a:r>
              <a:rPr lang="en-US" dirty="0"/>
              <a:t>- </a:t>
            </a:r>
            <a:r>
              <a:rPr lang="en-GB" dirty="0"/>
              <a:t>Mochizuki et al. (2008) — Detailed humeral insertion anatomy of supraspinatus and infraspinatus. PubMed: 18451386</a:t>
            </a:r>
          </a:p>
          <a:p>
            <a:r>
              <a:rPr lang="en-GB" dirty="0"/>
              <a:t>- Naidoo et al. (2016) — “The rotator cuff footprint: a cadaveric study” (open PDF available) 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en-GB" dirty="0" err="1">
                <a:solidFill>
                  <a:schemeClr val="bg1">
                    <a:lumMod val="65000"/>
                  </a:schemeClr>
                </a:solidFill>
              </a:rPr>
              <a:t>cadáveres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  <a:p>
            <a:endParaRPr lang="en-GB" dirty="0">
              <a:solidFill>
                <a:schemeClr val="bg2"/>
              </a:solidFill>
            </a:endParaRPr>
          </a:p>
          <a:p>
            <a:r>
              <a:rPr lang="en-GB" dirty="0"/>
              <a:t>- </a:t>
            </a:r>
            <a:r>
              <a:rPr lang="en-GB" dirty="0" err="1"/>
              <a:t>SimTK</a:t>
            </a:r>
            <a:r>
              <a:rPr lang="en-GB" dirty="0"/>
              <a:t> humerus &amp; scapula Statistical Shape Models (including landmarks that can be used for muscle attachments). Downloads available at </a:t>
            </a:r>
            <a:r>
              <a:rPr lang="en-GB" dirty="0" err="1"/>
              <a:t>simtk.org</a:t>
            </a:r>
            <a:r>
              <a:rPr lang="en-GB" dirty="0"/>
              <a:t> (search “humerus SSM”).</a:t>
            </a:r>
          </a:p>
          <a:p>
            <a:r>
              <a:rPr lang="en-GB" dirty="0"/>
              <a:t>- Open-source validated shoulder Finite Element Model (with muscle attachments) — GitHub: OSEL-DAM/</a:t>
            </a:r>
            <a:r>
              <a:rPr lang="en-GB" dirty="0" err="1"/>
              <a:t>ShoulderFiniteElementModel</a:t>
            </a:r>
            <a:r>
              <a:rPr lang="en-GB" dirty="0"/>
              <a:t>? 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en-GB" dirty="0" err="1">
                <a:solidFill>
                  <a:schemeClr val="bg1">
                    <a:lumMod val="65000"/>
                  </a:schemeClr>
                </a:solidFill>
              </a:rPr>
              <a:t>modelos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dirty="0" err="1">
                <a:solidFill>
                  <a:schemeClr val="bg1">
                    <a:lumMod val="65000"/>
                  </a:schemeClr>
                </a:solidFill>
              </a:rPr>
              <a:t>estadísticos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)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07ACDFC-6964-51CB-9EB0-082335D03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  <a:r>
              <a:rPr lang="en-US" dirty="0" err="1"/>
              <a:t>Referencias</a:t>
            </a:r>
            <a:r>
              <a:rPr lang="en-US" dirty="0"/>
              <a:t> de </a:t>
            </a:r>
            <a:r>
              <a:rPr lang="en-US" dirty="0" err="1"/>
              <a:t>interés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04103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216297</TotalTime>
  <Words>3117</Words>
  <Application>Microsoft Macintosh PowerPoint</Application>
  <PresentationFormat>On-screen Show (16:9)</PresentationFormat>
  <Paragraphs>233</Paragraphs>
  <Slides>30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-webkit-standard</vt:lpstr>
      <vt:lpstr>Arial</vt:lpstr>
      <vt:lpstr>Cambria Math</vt:lpstr>
      <vt:lpstr>Simple Light</vt:lpstr>
      <vt:lpstr>Proyecto – Gustavo A. Pérez </vt:lpstr>
      <vt:lpstr>P3, el plano en el infinito, cuádricas y cónicas</vt:lpstr>
      <vt:lpstr>   S2 en P3, O(3,1)</vt:lpstr>
      <vt:lpstr>O(3) como subgrupo de O(3,1)</vt:lpstr>
      <vt:lpstr>O(3,1) y las rectas de R3 y P3</vt:lpstr>
      <vt:lpstr>Lo próximo, el húmero: esfera y recta</vt:lpstr>
      <vt:lpstr>El húmero: cabeza, cuello quirúrgico  </vt:lpstr>
      <vt:lpstr>El húmero</vt:lpstr>
      <vt:lpstr>Otro ejemplo</vt:lpstr>
      <vt:lpstr>Lo próximo:  enviar un húmero en otro</vt:lpstr>
      <vt:lpstr>Grok propone: </vt:lpstr>
      <vt:lpstr>Un ejemplo</vt:lpstr>
      <vt:lpstr>Ocurre una situación interesante: </vt:lpstr>
      <vt:lpstr>Húmero, esfera y recta</vt:lpstr>
      <vt:lpstr>Húmero, esfera y recta – un ejemplo </vt:lpstr>
      <vt:lpstr>Un húmero y el otro</vt:lpstr>
      <vt:lpstr>Esfera y recta asociada a un húmero y al otro</vt:lpstr>
      <vt:lpstr>Rectas paralelas y coplanares con el centro de la esfera</vt:lpstr>
      <vt:lpstr>Construcción de la matriz en O(3,1)</vt:lpstr>
      <vt:lpstr>Una idea es .....</vt:lpstr>
      <vt:lpstr>Una idea es ..... continuación</vt:lpstr>
      <vt:lpstr>Efecto de recta roja → recta azul sobre CLUSTERS </vt:lpstr>
      <vt:lpstr>Resumen</vt:lpstr>
      <vt:lpstr>Pero hay un problema</vt:lpstr>
      <vt:lpstr>Húmero, cortes axiales y arcos circulares</vt:lpstr>
      <vt:lpstr>Húmero standard y los músculos: los stl’s</vt:lpstr>
      <vt:lpstr>Claude de Anthropic</vt:lpstr>
      <vt:lpstr>Actividad por desarrollar</vt:lpstr>
      <vt:lpstr>Actividad por desarrollar para Gustavo</vt:lpstr>
      <vt:lpstr> Referencias de interés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Geometría Aplicada</dc:title>
  <cp:lastModifiedBy>Paluszny Rodriguez, Adriana</cp:lastModifiedBy>
  <cp:revision>271</cp:revision>
  <cp:lastPrinted>2026-05-26T17:03:25Z</cp:lastPrinted>
  <dcterms:modified xsi:type="dcterms:W3CDTF">2026-07-12T14:26:27Z</dcterms:modified>
</cp:coreProperties>
</file>